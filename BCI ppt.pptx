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6" r:id="rId10"/>
    <p:sldId id="267" r:id="rId11"/>
    <p:sldId id="273" r:id="rId12"/>
    <p:sldId id="272" r:id="rId13"/>
    <p:sldId id="269" r:id="rId14"/>
    <p:sldId id="270" r:id="rId15"/>
    <p:sldId id="263"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96" d="100"/>
          <a:sy n="96" d="100"/>
        </p:scale>
        <p:origin x="1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harth pal" userId="6aa1731dfb1dfbea" providerId="LiveId" clId="{B8AEF0D9-2533-47A7-B5E9-006FDAFB9446}"/>
    <pc:docChg chg="custSel addSld modSld">
      <pc:chgData name="siddharth pal" userId="6aa1731dfb1dfbea" providerId="LiveId" clId="{B8AEF0D9-2533-47A7-B5E9-006FDAFB9446}" dt="2026-06-19T09:08:31.967" v="6" actId="680"/>
      <pc:docMkLst>
        <pc:docMk/>
      </pc:docMkLst>
      <pc:sldChg chg="modSp mod">
        <pc:chgData name="siddharth pal" userId="6aa1731dfb1dfbea" providerId="LiveId" clId="{B8AEF0D9-2533-47A7-B5E9-006FDAFB9446}" dt="2026-06-19T08:32:56.784" v="0" actId="20577"/>
        <pc:sldMkLst>
          <pc:docMk/>
          <pc:sldMk cId="3366756052" sldId="267"/>
        </pc:sldMkLst>
        <pc:spChg chg="mod">
          <ac:chgData name="siddharth pal" userId="6aa1731dfb1dfbea" providerId="LiveId" clId="{B8AEF0D9-2533-47A7-B5E9-006FDAFB9446}" dt="2026-06-19T08:32:56.784" v="0" actId="20577"/>
          <ac:spMkLst>
            <pc:docMk/>
            <pc:sldMk cId="3366756052" sldId="267"/>
            <ac:spMk id="4" creationId="{701B08AE-58C6-ADBB-6B6E-A283CA22C417}"/>
          </ac:spMkLst>
        </pc:spChg>
      </pc:sldChg>
      <pc:sldChg chg="modSp mod">
        <pc:chgData name="siddharth pal" userId="6aa1731dfb1dfbea" providerId="LiveId" clId="{B8AEF0D9-2533-47A7-B5E9-006FDAFB9446}" dt="2026-06-19T08:33:39.237" v="5" actId="5793"/>
        <pc:sldMkLst>
          <pc:docMk/>
          <pc:sldMk cId="975383322" sldId="269"/>
        </pc:sldMkLst>
        <pc:spChg chg="mod">
          <ac:chgData name="siddharth pal" userId="6aa1731dfb1dfbea" providerId="LiveId" clId="{B8AEF0D9-2533-47A7-B5E9-006FDAFB9446}" dt="2026-06-19T08:33:39.237" v="5" actId="5793"/>
          <ac:spMkLst>
            <pc:docMk/>
            <pc:sldMk cId="975383322" sldId="269"/>
            <ac:spMk id="3" creationId="{0DE6676F-6932-1ED9-338F-8FC91097A8D3}"/>
          </ac:spMkLst>
        </pc:spChg>
      </pc:sldChg>
      <pc:sldChg chg="modSp mod">
        <pc:chgData name="siddharth pal" userId="6aa1731dfb1dfbea" providerId="LiveId" clId="{B8AEF0D9-2533-47A7-B5E9-006FDAFB9446}" dt="2026-06-19T08:33:27.478" v="4" actId="27636"/>
        <pc:sldMkLst>
          <pc:docMk/>
          <pc:sldMk cId="3995388012" sldId="270"/>
        </pc:sldMkLst>
        <pc:spChg chg="mod">
          <ac:chgData name="siddharth pal" userId="6aa1731dfb1dfbea" providerId="LiveId" clId="{B8AEF0D9-2533-47A7-B5E9-006FDAFB9446}" dt="2026-06-19T08:33:27.478" v="4" actId="27636"/>
          <ac:spMkLst>
            <pc:docMk/>
            <pc:sldMk cId="3995388012" sldId="270"/>
            <ac:spMk id="3" creationId="{6C21D121-C674-C959-E5FF-D33B6F7FBBE0}"/>
          </ac:spMkLst>
        </pc:spChg>
      </pc:sldChg>
      <pc:sldChg chg="new">
        <pc:chgData name="siddharth pal" userId="6aa1731dfb1dfbea" providerId="LiveId" clId="{B8AEF0D9-2533-47A7-B5E9-006FDAFB9446}" dt="2026-06-19T09:08:31.967" v="6" actId="680"/>
        <pc:sldMkLst>
          <pc:docMk/>
          <pc:sldMk cId="2946420207" sldId="273"/>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6946F1-0DC3-4BB6-BB51-978BA0DA25A3}"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2824138953"/>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6946F1-0DC3-4BB6-BB51-978BA0DA25A3}"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3691360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6946F1-0DC3-4BB6-BB51-978BA0DA25A3}"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2403820272"/>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6946F1-0DC3-4BB6-BB51-978BA0DA25A3}"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127604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6946F1-0DC3-4BB6-BB51-978BA0DA25A3}" type="datetimeFigureOut">
              <a:rPr lang="en-IN" smtClean="0"/>
              <a:t>19-06-2026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3076364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6946F1-0DC3-4BB6-BB51-978BA0DA25A3}" type="datetimeFigureOut">
              <a:rPr lang="en-IN" smtClean="0"/>
              <a:t>19-06-2026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251939558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56946F1-0DC3-4BB6-BB51-978BA0DA25A3}" type="datetimeFigureOut">
              <a:rPr lang="en-IN" smtClean="0"/>
              <a:t>19-06-2026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3192273684"/>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6946F1-0DC3-4BB6-BB51-978BA0DA25A3}"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708797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6946F1-0DC3-4BB6-BB51-978BA0DA25A3}"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773691140"/>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6946F1-0DC3-4BB6-BB51-978BA0DA25A3}"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1958757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6946F1-0DC3-4BB6-BB51-978BA0DA25A3}"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16388284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6946F1-0DC3-4BB6-BB51-978BA0DA25A3}"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DD0095-A500-49EF-A068-83F3751465F9}"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85529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6946F1-0DC3-4BB6-BB51-978BA0DA25A3}"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11945092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56946F1-0DC3-4BB6-BB51-978BA0DA25A3}" type="datetimeFigureOut">
              <a:rPr lang="en-IN" smtClean="0"/>
              <a:t>19-06-2026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656070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56946F1-0DC3-4BB6-BB51-978BA0DA25A3}" type="datetimeFigureOut">
              <a:rPr lang="en-IN" smtClean="0"/>
              <a:t>19-06-2026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40349955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6946F1-0DC3-4BB6-BB51-978BA0DA25A3}"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3670452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6946F1-0DC3-4BB6-BB51-978BA0DA25A3}"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15119397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935E2-1A3E-27F3-1CE8-4BE34DDC51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F293F0-4C67-4CFD-5E15-E83B221042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C71E07-EF36-924E-7C5F-EEBCCB6FCA58}"/>
              </a:ext>
            </a:extLst>
          </p:cNvPr>
          <p:cNvSpPr>
            <a:spLocks noGrp="1"/>
          </p:cNvSpPr>
          <p:nvPr>
            <p:ph type="dt" sz="half" idx="10"/>
          </p:nvPr>
        </p:nvSpPr>
        <p:spPr/>
        <p:txBody>
          <a:bodyPr/>
          <a:lstStyle/>
          <a:p>
            <a:fld id="{C56946F1-0DC3-4BB6-BB51-978BA0DA25A3}" type="datetimeFigureOut">
              <a:rPr lang="en-IN" smtClean="0"/>
              <a:t>19-06-2026</a:t>
            </a:fld>
            <a:endParaRPr lang="en-IN"/>
          </a:p>
        </p:txBody>
      </p:sp>
      <p:sp>
        <p:nvSpPr>
          <p:cNvPr id="5" name="Footer Placeholder 4">
            <a:extLst>
              <a:ext uri="{FF2B5EF4-FFF2-40B4-BE49-F238E27FC236}">
                <a16:creationId xmlns:a16="http://schemas.microsoft.com/office/drawing/2014/main" id="{549B743C-96B1-A371-5D7F-C87CFABEF9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5CD1F6-BB90-A41F-88A3-B624930E7B38}"/>
              </a:ext>
            </a:extLst>
          </p:cNvPr>
          <p:cNvSpPr>
            <a:spLocks noGrp="1"/>
          </p:cNvSpPr>
          <p:nvPr>
            <p:ph type="sldNum" sz="quarter" idx="12"/>
          </p:nvPr>
        </p:nvSpPr>
        <p:spPr/>
        <p:txBody>
          <a:bodyPr/>
          <a:lstStyle/>
          <a:p>
            <a:fld id="{82DD0095-A500-49EF-A068-83F3751465F9}" type="slidenum">
              <a:rPr lang="en-IN" smtClean="0"/>
              <a:t>‹#›</a:t>
            </a:fld>
            <a:endParaRPr lang="en-IN"/>
          </a:p>
        </p:txBody>
      </p:sp>
    </p:spTree>
    <p:extLst>
      <p:ext uri="{BB962C8B-B14F-4D97-AF65-F5344CB8AC3E}">
        <p14:creationId xmlns:p14="http://schemas.microsoft.com/office/powerpoint/2010/main" val="4079394375"/>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56946F1-0DC3-4BB6-BB51-978BA0DA25A3}" type="datetimeFigureOut">
              <a:rPr lang="en-IN" smtClean="0"/>
              <a:t>19-06-2026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82DD0095-A500-49EF-A068-83F3751465F9}" type="slidenum">
              <a:rPr lang="en-IN" smtClean="0"/>
              <a:t>‹#›</a:t>
            </a:fld>
            <a:endParaRPr lang="en-IN"/>
          </a:p>
        </p:txBody>
      </p:sp>
    </p:spTree>
    <p:extLst>
      <p:ext uri="{BB962C8B-B14F-4D97-AF65-F5344CB8AC3E}">
        <p14:creationId xmlns:p14="http://schemas.microsoft.com/office/powerpoint/2010/main" val="15384057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ransition spd="slow">
    <p:push dir="u"/>
  </p:transition>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50E165-3C35-F731-5F9E-24B624EF696C}"/>
              </a:ext>
            </a:extLst>
          </p:cNvPr>
          <p:cNvPicPr>
            <a:picLocks noChangeAspect="1"/>
          </p:cNvPicPr>
          <p:nvPr/>
        </p:nvPicPr>
        <p:blipFill>
          <a:blip r:embed="rId2"/>
          <a:stretch>
            <a:fillRect/>
          </a:stretch>
        </p:blipFill>
        <p:spPr>
          <a:xfrm>
            <a:off x="2069690" y="193296"/>
            <a:ext cx="8052619" cy="1049863"/>
          </a:xfrm>
          <a:prstGeom prst="rect">
            <a:avLst/>
          </a:prstGeom>
        </p:spPr>
      </p:pic>
      <p:sp>
        <p:nvSpPr>
          <p:cNvPr id="7" name="TextBox 6">
            <a:extLst>
              <a:ext uri="{FF2B5EF4-FFF2-40B4-BE49-F238E27FC236}">
                <a16:creationId xmlns:a16="http://schemas.microsoft.com/office/drawing/2014/main" id="{6517F2DC-059A-6C49-93E2-437D29C354C0}"/>
              </a:ext>
            </a:extLst>
          </p:cNvPr>
          <p:cNvSpPr txBox="1"/>
          <p:nvPr/>
        </p:nvSpPr>
        <p:spPr>
          <a:xfrm>
            <a:off x="4866966" y="2396667"/>
            <a:ext cx="2989006"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Minor Project-II</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0EB2742-7093-9CDC-7636-7227FC417559}"/>
              </a:ext>
            </a:extLst>
          </p:cNvPr>
          <p:cNvSpPr txBox="1"/>
          <p:nvPr/>
        </p:nvSpPr>
        <p:spPr>
          <a:xfrm>
            <a:off x="2769008" y="1835942"/>
            <a:ext cx="6653982"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DEPARTMENT OF ELECTRONICS AND COMMUNICATION</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F6FECAF-124C-D4D2-9166-FE2A9444A3CF}"/>
              </a:ext>
            </a:extLst>
          </p:cNvPr>
          <p:cNvSpPr txBox="1"/>
          <p:nvPr/>
        </p:nvSpPr>
        <p:spPr>
          <a:xfrm>
            <a:off x="2277395" y="3274012"/>
            <a:ext cx="8168148" cy="954107"/>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Brain Signal Classification Using EEG And Machine Learning </a:t>
            </a:r>
          </a:p>
        </p:txBody>
      </p:sp>
      <p:sp>
        <p:nvSpPr>
          <p:cNvPr id="11" name="TextBox 10">
            <a:extLst>
              <a:ext uri="{FF2B5EF4-FFF2-40B4-BE49-F238E27FC236}">
                <a16:creationId xmlns:a16="http://schemas.microsoft.com/office/drawing/2014/main" id="{4D607DF1-2A6E-C5C0-8DEF-5965BD94928E}"/>
              </a:ext>
            </a:extLst>
          </p:cNvPr>
          <p:cNvSpPr txBox="1"/>
          <p:nvPr/>
        </p:nvSpPr>
        <p:spPr>
          <a:xfrm>
            <a:off x="334468" y="4750505"/>
            <a:ext cx="4326294"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Guided by</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Mr. Ankit Muley </a:t>
            </a:r>
            <a:endParaRPr lang="en-IN"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3AF9B7B4-22E1-E344-6330-10937DE069F1}"/>
              </a:ext>
            </a:extLst>
          </p:cNvPr>
          <p:cNvSpPr txBox="1"/>
          <p:nvPr/>
        </p:nvSpPr>
        <p:spPr>
          <a:xfrm>
            <a:off x="9158747" y="4750505"/>
            <a:ext cx="3033253" cy="1631216"/>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Submitted  by</a:t>
            </a:r>
            <a:r>
              <a:rPr lang="en-US" sz="2000" dirty="0">
                <a:latin typeface="Times New Roman" panose="02020603050405020304" pitchFamily="18" charset="0"/>
                <a:cs typeface="Times New Roman" panose="02020603050405020304" pitchFamily="18" charset="0"/>
              </a:rPr>
              <a:t>: </a:t>
            </a:r>
          </a:p>
          <a:p>
            <a:pPr algn="ctr"/>
            <a:r>
              <a:rPr lang="en-US" sz="2000" dirty="0">
                <a:latin typeface="Times New Roman" panose="02020603050405020304" pitchFamily="18" charset="0"/>
                <a:cs typeface="Times New Roman" panose="02020603050405020304" pitchFamily="18" charset="0"/>
              </a:rPr>
              <a:t>Saloni Parihar</a:t>
            </a:r>
          </a:p>
          <a:p>
            <a:pPr algn="ctr"/>
            <a:r>
              <a:rPr lang="en-US" sz="2000" dirty="0">
                <a:latin typeface="Times New Roman" panose="02020603050405020304" pitchFamily="18" charset="0"/>
                <a:cs typeface="Times New Roman" panose="02020603050405020304" pitchFamily="18" charset="0"/>
              </a:rPr>
              <a:t>Siddharth Pal</a:t>
            </a:r>
          </a:p>
          <a:p>
            <a:pPr algn="ctr"/>
            <a:endParaRPr lang="en-US" sz="2000" dirty="0">
              <a:latin typeface="Times New Roman" panose="02020603050405020304" pitchFamily="18" charset="0"/>
              <a:cs typeface="Times New Roman" panose="02020603050405020304" pitchFamily="18" charset="0"/>
            </a:endParaRPr>
          </a:p>
          <a:p>
            <a:pPr algn="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437754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30E7B-6151-298F-91BB-A2F0C03F01A7}"/>
              </a:ext>
            </a:extLst>
          </p:cNvPr>
          <p:cNvSpPr>
            <a:spLocks noGrp="1"/>
          </p:cNvSpPr>
          <p:nvPr>
            <p:ph type="title"/>
          </p:nvPr>
        </p:nvSpPr>
        <p:spPr>
          <a:xfrm>
            <a:off x="913775" y="618518"/>
            <a:ext cx="10364451" cy="958356"/>
          </a:xfrm>
        </p:spPr>
        <p:txBody>
          <a:bodyPr/>
          <a:lstStyle/>
          <a:p>
            <a:pPr algn="ctr"/>
            <a:r>
              <a:rPr lang="en-US" b="1"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A8CDB3-9577-26FE-C66E-76677422497E}"/>
              </a:ext>
            </a:extLst>
          </p:cNvPr>
          <p:cNvSpPr>
            <a:spLocks noGrp="1"/>
          </p:cNvSpPr>
          <p:nvPr>
            <p:ph idx="1"/>
          </p:nvPr>
        </p:nvSpPr>
        <p:spPr>
          <a:xfrm>
            <a:off x="913775" y="1838131"/>
            <a:ext cx="10364452" cy="3953069"/>
          </a:xfrm>
        </p:spPr>
        <p:txBody>
          <a:bodyPr>
            <a:normAutofit lnSpcReduction="10000"/>
          </a:bodyPr>
          <a:lstStyle/>
          <a:p>
            <a:pPr algn="just">
              <a:lnSpc>
                <a:spcPct val="170000"/>
              </a:lnSpc>
              <a:buFont typeface="Arial" panose="020B0604020202020204" pitchFamily="34" charset="0"/>
              <a:buChar char="•"/>
            </a:pPr>
            <a:r>
              <a:rPr lang="en-US" sz="1800" dirty="0">
                <a:latin typeface="Times New Roman" pitchFamily="18" charset="0"/>
                <a:cs typeface="Times New Roman" pitchFamily="18" charset="0"/>
              </a:rPr>
              <a:t>Objective</a:t>
            </a:r>
          </a:p>
          <a:p>
            <a:pPr algn="just">
              <a:lnSpc>
                <a:spcPct val="170000"/>
              </a:lnSpc>
              <a:buFont typeface="Arial" panose="020B0604020202020204" pitchFamily="34" charset="0"/>
              <a:buChar char="•"/>
            </a:pPr>
            <a:r>
              <a:rPr lang="en-US" sz="1800" dirty="0">
                <a:latin typeface="Times New Roman" pitchFamily="18" charset="0"/>
                <a:cs typeface="Times New Roman" pitchFamily="18" charset="0"/>
              </a:rPr>
              <a:t>Introduction</a:t>
            </a:r>
          </a:p>
          <a:p>
            <a:pPr algn="just">
              <a:lnSpc>
                <a:spcPct val="170000"/>
              </a:lnSpc>
              <a:buFont typeface="Arial" panose="020B0604020202020204" pitchFamily="34" charset="0"/>
              <a:buChar char="•"/>
            </a:pPr>
            <a:r>
              <a:rPr lang="en-US" sz="1800" dirty="0">
                <a:latin typeface="Times New Roman" pitchFamily="18" charset="0"/>
                <a:cs typeface="Times New Roman" pitchFamily="18" charset="0"/>
              </a:rPr>
              <a:t>Literature Survey</a:t>
            </a:r>
          </a:p>
          <a:p>
            <a:pPr algn="just">
              <a:lnSpc>
                <a:spcPct val="170000"/>
              </a:lnSpc>
              <a:buFont typeface="Arial" panose="020B0604020202020204" pitchFamily="34" charset="0"/>
              <a:buChar char="•"/>
            </a:pPr>
            <a:r>
              <a:rPr lang="en-US" sz="1800" dirty="0">
                <a:latin typeface="Times New Roman" pitchFamily="18" charset="0"/>
                <a:cs typeface="Times New Roman" pitchFamily="18" charset="0"/>
              </a:rPr>
              <a:t>Methodology</a:t>
            </a:r>
          </a:p>
          <a:p>
            <a:pPr algn="just">
              <a:lnSpc>
                <a:spcPct val="170000"/>
              </a:lnSpc>
              <a:buFont typeface="Arial" panose="020B0604020202020204" pitchFamily="34" charset="0"/>
              <a:buChar char="•"/>
            </a:pPr>
            <a:r>
              <a:rPr lang="en-US" sz="1800" dirty="0">
                <a:latin typeface="Times New Roman" pitchFamily="18" charset="0"/>
                <a:cs typeface="Times New Roman" pitchFamily="18" charset="0"/>
              </a:rPr>
              <a:t>Results</a:t>
            </a:r>
          </a:p>
          <a:p>
            <a:pPr algn="just">
              <a:lnSpc>
                <a:spcPct val="170000"/>
              </a:lnSpc>
              <a:buFont typeface="Arial" panose="020B0604020202020204" pitchFamily="34" charset="0"/>
              <a:buChar char="•"/>
            </a:pPr>
            <a:r>
              <a:rPr lang="en-US" sz="1800" dirty="0">
                <a:latin typeface="Times New Roman" pitchFamily="18" charset="0"/>
                <a:cs typeface="Times New Roman" pitchFamily="18" charset="0"/>
              </a:rPr>
              <a:t>Conclusion AND Future Scope</a:t>
            </a:r>
          </a:p>
          <a:p>
            <a:pPr algn="just">
              <a:lnSpc>
                <a:spcPct val="170000"/>
              </a:lnSpc>
              <a:buFont typeface="Arial" panose="020B0604020202020204" pitchFamily="34" charset="0"/>
              <a:buChar char="•"/>
            </a:pPr>
            <a:r>
              <a:rPr lang="en-US" sz="1800" dirty="0">
                <a:latin typeface="Times New Roman" pitchFamily="18" charset="0"/>
                <a:cs typeface="Times New Roman" pitchFamily="18" charset="0"/>
              </a:rPr>
              <a:t>References</a:t>
            </a:r>
          </a:p>
          <a:p>
            <a:pPr marL="0" indent="0">
              <a:buNone/>
            </a:pPr>
            <a:endParaRPr lang="en-IN" sz="1400" dirty="0"/>
          </a:p>
        </p:txBody>
      </p:sp>
    </p:spTree>
    <p:extLst>
      <p:ext uri="{BB962C8B-B14F-4D97-AF65-F5344CB8AC3E}">
        <p14:creationId xmlns:p14="http://schemas.microsoft.com/office/powerpoint/2010/main" val="106795742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D62C-CDB4-4AED-D77D-FC3745D2A22E}"/>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OBJECTIVE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C8F3D0-FA60-AA39-6D0F-D8C5F4447D7E}"/>
              </a:ext>
            </a:extLst>
          </p:cNvPr>
          <p:cNvSpPr>
            <a:spLocks noGrp="1"/>
          </p:cNvSpPr>
          <p:nvPr>
            <p:ph idx="1"/>
          </p:nvPr>
        </p:nvSpPr>
        <p:spPr>
          <a:xfrm>
            <a:off x="925461" y="2654144"/>
            <a:ext cx="10341077" cy="1858861"/>
          </a:xfrm>
        </p:spPr>
        <p:txBody>
          <a:bodyPr>
            <a:normAutofit fontScale="92500" lnSpcReduction="20000"/>
          </a:bodyPr>
          <a:lstStyle/>
          <a:p>
            <a:pPr marL="0" indent="0" algn="just">
              <a:lnSpc>
                <a:spcPct val="150000"/>
              </a:lnSpc>
              <a:buNone/>
            </a:pPr>
            <a:r>
              <a:rPr lang="en-IN" sz="2400" dirty="0">
                <a:latin typeface="Times New Roman" panose="02020603050405020304" pitchFamily="18" charset="0"/>
                <a:cs typeface="Times New Roman" panose="02020603050405020304" pitchFamily="18" charset="0"/>
              </a:rPr>
              <a:t>The objective of this project is to classify EEG brain signals using machine learning by processing raw data, extracting relevant features, and identifying different brain activities to support Brain-Computer Interface (BCI) applications.</a:t>
            </a:r>
            <a:endParaRPr lang="en-IN"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833877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8E3FB-BD1F-F64F-8E78-C583A4D1541E}"/>
              </a:ext>
            </a:extLst>
          </p:cNvPr>
          <p:cNvSpPr>
            <a:spLocks noGrp="1"/>
          </p:cNvSpPr>
          <p:nvPr>
            <p:ph type="title"/>
          </p:nvPr>
        </p:nvSpPr>
        <p:spPr>
          <a:xfrm>
            <a:off x="0" y="188820"/>
            <a:ext cx="12192000" cy="1001559"/>
          </a:xfrm>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37AA68-7C70-88CA-346D-FFFAF0D37E1B}"/>
              </a:ext>
            </a:extLst>
          </p:cNvPr>
          <p:cNvSpPr>
            <a:spLocks noGrp="1"/>
          </p:cNvSpPr>
          <p:nvPr>
            <p:ph idx="1"/>
          </p:nvPr>
        </p:nvSpPr>
        <p:spPr>
          <a:xfrm>
            <a:off x="838200" y="1410930"/>
            <a:ext cx="10515600" cy="5447070"/>
          </a:xfrm>
        </p:spPr>
        <p:txBody>
          <a:bodyPr>
            <a:normAutofit lnSpcReduction="10000"/>
          </a:bodyPr>
          <a:lstStyle/>
          <a:p>
            <a:r>
              <a:rPr lang="en-IN" sz="1600" dirty="0">
                <a:latin typeface="Times New Roman" panose="02020603050405020304" pitchFamily="18" charset="0"/>
                <a:cs typeface="Times New Roman" panose="02020603050405020304" pitchFamily="18" charset="0"/>
              </a:rPr>
              <a:t>Brain Signal Classification using EEG and Machine Learning is an advanced approach that enables the analysis and interpretation of brain activity through Electroencephalography (EEG) signals. By combining signal processing techniques with machine learning algorithms, the system can identify and classify different patterns of brain activity for various applications.</a:t>
            </a:r>
          </a:p>
          <a:p>
            <a:r>
              <a:rPr lang="en-IN" sz="1600" b="1" dirty="0">
                <a:latin typeface="Times New Roman" panose="02020603050405020304" pitchFamily="18" charset="0"/>
                <a:cs typeface="Times New Roman" panose="02020603050405020304" pitchFamily="18" charset="0"/>
              </a:rPr>
              <a:t>EEG signal acquisition and processing</a:t>
            </a:r>
            <a:r>
              <a:rPr lang="en-IN" sz="1600" dirty="0">
                <a:latin typeface="Times New Roman" panose="02020603050405020304" pitchFamily="18" charset="0"/>
                <a:cs typeface="Times New Roman" panose="02020603050405020304" pitchFamily="18" charset="0"/>
              </a:rPr>
              <a:t>: EEG signals are collected using electrodes placed on the scalp and then pre-processed to remove noise and artifacts, ensuring reliable data for analysis.</a:t>
            </a:r>
          </a:p>
          <a:p>
            <a:r>
              <a:rPr lang="en-IN" sz="1600" b="1" dirty="0">
                <a:latin typeface="Times New Roman" panose="02020603050405020304" pitchFamily="18" charset="0"/>
                <a:cs typeface="Times New Roman" panose="02020603050405020304" pitchFamily="18" charset="0"/>
              </a:rPr>
              <a:t>Feature extraction and classification</a:t>
            </a:r>
            <a:r>
              <a:rPr lang="en-IN" sz="1600" dirty="0">
                <a:latin typeface="Times New Roman" panose="02020603050405020304" pitchFamily="18" charset="0"/>
                <a:cs typeface="Times New Roman" panose="02020603050405020304" pitchFamily="18" charset="0"/>
              </a:rPr>
              <a:t>: meaningful features are extracted from the processed EEG signals and used to train machine learning models capable of distinguishing different brain activity patterns.</a:t>
            </a:r>
          </a:p>
          <a:p>
            <a:r>
              <a:rPr lang="en-IN" sz="1600" b="1" dirty="0">
                <a:latin typeface="Times New Roman" panose="02020603050405020304" pitchFamily="18" charset="0"/>
                <a:cs typeface="Times New Roman" panose="02020603050405020304" pitchFamily="18" charset="0"/>
              </a:rPr>
              <a:t>Brain-Computer Interface applications</a:t>
            </a:r>
            <a:r>
              <a:rPr lang="en-IN" sz="1600" dirty="0">
                <a:latin typeface="Times New Roman" panose="02020603050405020304" pitchFamily="18" charset="0"/>
                <a:cs typeface="Times New Roman" panose="02020603050405020304" pitchFamily="18" charset="0"/>
              </a:rPr>
              <a:t>: accurate classification of EEG signals enables the development of BCI systems that allow communication and control through brain activity without physical movement.</a:t>
            </a:r>
          </a:p>
          <a:p>
            <a:r>
              <a:rPr lang="en-IN" sz="1600" b="1" dirty="0">
                <a:latin typeface="Times New Roman" panose="02020603050405020304" pitchFamily="18" charset="0"/>
                <a:cs typeface="Times New Roman" panose="02020603050405020304" pitchFamily="18" charset="0"/>
              </a:rPr>
              <a:t>Healthcare and assistive technology</a:t>
            </a:r>
            <a:r>
              <a:rPr lang="en-IN" sz="1600" dirty="0">
                <a:latin typeface="Times New Roman" panose="02020603050405020304" pitchFamily="18" charset="0"/>
                <a:cs typeface="Times New Roman" panose="02020603050405020304" pitchFamily="18" charset="0"/>
              </a:rPr>
              <a:t>: EEG-based classification systems can support neurorehabilitation, medical diagnosis, assistive devices, and intelligent human-machine interaction.</a:t>
            </a:r>
          </a:p>
          <a:p>
            <a:pPr marL="0" indent="0">
              <a:buNone/>
            </a:pPr>
            <a:endParaRPr lang="en-IN" sz="16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913054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85475E-6A71-C2F8-F306-F0D35F60B5FE}"/>
              </a:ext>
            </a:extLst>
          </p:cNvPr>
          <p:cNvSpPr>
            <a:spLocks noGrp="1"/>
          </p:cNvSpPr>
          <p:nvPr>
            <p:ph idx="1"/>
          </p:nvPr>
        </p:nvSpPr>
        <p:spPr>
          <a:xfrm>
            <a:off x="202968" y="591433"/>
            <a:ext cx="11145820" cy="6138933"/>
          </a:xfrm>
        </p:spPr>
        <p:txBody>
          <a:bodyPr>
            <a:noAutofit/>
          </a:bodyPr>
          <a:lstStyle/>
          <a:p>
            <a:pPr marL="0" indent="0">
              <a:buNone/>
            </a:pPr>
            <a:r>
              <a:rPr lang="en-IN" sz="1600" b="1" dirty="0"/>
              <a:t>Applications-:</a:t>
            </a:r>
            <a:endParaRPr lang="en-IN" sz="1600" dirty="0"/>
          </a:p>
          <a:p>
            <a:pPr marL="0" indent="0">
              <a:buNone/>
            </a:pPr>
            <a:r>
              <a:rPr lang="en-IN" sz="1600" dirty="0"/>
              <a:t>• </a:t>
            </a:r>
            <a:r>
              <a:rPr lang="en-IN" sz="1600" b="1" dirty="0"/>
              <a:t>Brain-Computer Interfaces (BCI):</a:t>
            </a:r>
            <a:r>
              <a:rPr lang="en-IN" sz="1600" dirty="0"/>
              <a:t> Enables users to control computers, wheelchairs, robotic devices, and other systems using brain signals.</a:t>
            </a:r>
          </a:p>
          <a:p>
            <a:pPr marL="0" indent="0">
              <a:buNone/>
            </a:pPr>
            <a:r>
              <a:rPr lang="en-IN" sz="1600" dirty="0"/>
              <a:t>• </a:t>
            </a:r>
            <a:r>
              <a:rPr lang="en-IN" sz="1600" b="1" dirty="0"/>
              <a:t>Healthcare and Medical Diagnosis:</a:t>
            </a:r>
            <a:r>
              <a:rPr lang="en-IN" sz="1600" dirty="0"/>
              <a:t> Assists in the detection and monitoring of neurological disorders such as epilepsy, Alzheimer's disease, Parkinson's disease, and sleep disorders.</a:t>
            </a:r>
          </a:p>
          <a:p>
            <a:pPr marL="0" indent="0">
              <a:buNone/>
            </a:pPr>
            <a:r>
              <a:rPr lang="en-IN" sz="1600" dirty="0"/>
              <a:t>• </a:t>
            </a:r>
            <a:r>
              <a:rPr lang="en-IN" sz="1600" b="1" dirty="0"/>
              <a:t>Neurorehabilitation:</a:t>
            </a:r>
            <a:r>
              <a:rPr lang="en-IN" sz="1600" dirty="0"/>
              <a:t> Supports the recovery of patients with motor impairments by facilitating brain-controlled rehabilitation and therapy systems.</a:t>
            </a:r>
          </a:p>
          <a:p>
            <a:pPr marL="0" indent="0">
              <a:buNone/>
            </a:pPr>
            <a:r>
              <a:rPr lang="en-IN" sz="1600" dirty="0"/>
              <a:t>• </a:t>
            </a:r>
            <a:r>
              <a:rPr lang="en-IN" sz="1600" b="1" dirty="0"/>
              <a:t>Assistive Technology:</a:t>
            </a:r>
            <a:r>
              <a:rPr lang="en-IN" sz="1600" dirty="0"/>
              <a:t> Helps individuals with physical disabilities communicate and interact with external devices without requiring muscular movement.</a:t>
            </a:r>
          </a:p>
          <a:p>
            <a:pPr marL="0" indent="0">
              <a:buNone/>
            </a:pPr>
            <a:r>
              <a:rPr lang="en-IN" sz="1600" dirty="0"/>
              <a:t>• </a:t>
            </a:r>
            <a:r>
              <a:rPr lang="en-IN" sz="1600" b="1" dirty="0"/>
              <a:t>Mental State Monitoring:</a:t>
            </a:r>
            <a:r>
              <a:rPr lang="en-IN" sz="1600" dirty="0"/>
              <a:t> Used to </a:t>
            </a:r>
            <a:r>
              <a:rPr lang="en-IN" sz="1600" dirty="0" err="1"/>
              <a:t>analyze</a:t>
            </a:r>
            <a:r>
              <a:rPr lang="en-IN" sz="1600" dirty="0"/>
              <a:t> attention levels, stress, fatigue, emotions, and cognitive workload in real-time.</a:t>
            </a:r>
          </a:p>
          <a:p>
            <a:pPr marL="0" indent="0">
              <a:buNone/>
            </a:pPr>
            <a:r>
              <a:rPr lang="en-IN" sz="1600" dirty="0"/>
              <a:t>• </a:t>
            </a:r>
            <a:r>
              <a:rPr lang="en-IN" sz="1600" b="1" dirty="0"/>
              <a:t>Research and Neuroscience:</a:t>
            </a:r>
            <a:r>
              <a:rPr lang="en-IN" sz="1600" dirty="0"/>
              <a:t> Assists researchers in understanding brain functions, neural activity patterns, and human cognition.</a:t>
            </a:r>
          </a:p>
          <a:p>
            <a:pPr marL="0" indent="0">
              <a:buNone/>
            </a:pPr>
            <a:r>
              <a:rPr lang="en-IN" sz="1600" dirty="0"/>
              <a:t>• </a:t>
            </a:r>
            <a:r>
              <a:rPr lang="en-IN" sz="1600" b="1" dirty="0"/>
              <a:t>Gaming and Virtual Reality:</a:t>
            </a:r>
            <a:r>
              <a:rPr lang="en-IN" sz="1600" dirty="0"/>
              <a:t> Enhances user interaction by enabling brain-controlled gaming and immersive virtual reality experiences.</a:t>
            </a:r>
          </a:p>
          <a:p>
            <a:pPr marL="0" indent="0" algn="just">
              <a:lnSpc>
                <a:spcPct val="150000"/>
              </a:lnSpc>
              <a:buNone/>
            </a:pPr>
            <a:endParaRPr lang="en-US" sz="1600" b="1" i="0" cap="none" dirty="0">
              <a:solidFill>
                <a:srgbClr val="0D0D0D"/>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178136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F9294-BE9B-F8A5-A1F3-D7926C31289B}"/>
              </a:ext>
            </a:extLst>
          </p:cNvPr>
          <p:cNvSpPr>
            <a:spLocks noGrp="1"/>
          </p:cNvSpPr>
          <p:nvPr>
            <p:ph type="ctrTitle"/>
          </p:nvPr>
        </p:nvSpPr>
        <p:spPr>
          <a:xfrm>
            <a:off x="0" y="79328"/>
            <a:ext cx="12191999" cy="873585"/>
          </a:xfrm>
        </p:spPr>
        <p:txBody>
          <a:bodyPr>
            <a:normAutofit/>
          </a:bodyPr>
          <a:lstStyle/>
          <a:p>
            <a:r>
              <a:rPr lang="en-US" sz="4000" b="1" dirty="0">
                <a:latin typeface="Times New Roman" panose="02020603050405020304" pitchFamily="18" charset="0"/>
                <a:cs typeface="Times New Roman" panose="02020603050405020304" pitchFamily="18" charset="0"/>
              </a:rPr>
              <a:t>LITERATURE REVIEW</a:t>
            </a:r>
            <a:endParaRPr lang="en-IN" sz="4000" b="1" dirty="0">
              <a:latin typeface="Times New Roman" panose="02020603050405020304" pitchFamily="18" charset="0"/>
              <a:cs typeface="Times New Roman" panose="02020603050405020304" pitchFamily="18" charset="0"/>
            </a:endParaRPr>
          </a:p>
        </p:txBody>
      </p:sp>
      <p:graphicFrame>
        <p:nvGraphicFramePr>
          <p:cNvPr id="6" name="Content Placeholder 12">
            <a:extLst>
              <a:ext uri="{FF2B5EF4-FFF2-40B4-BE49-F238E27FC236}">
                <a16:creationId xmlns:a16="http://schemas.microsoft.com/office/drawing/2014/main" id="{06F57DA6-476A-63F7-3346-AE52872E79B5}"/>
              </a:ext>
            </a:extLst>
          </p:cNvPr>
          <p:cNvGraphicFramePr>
            <a:graphicFrameLocks/>
          </p:cNvGraphicFramePr>
          <p:nvPr>
            <p:extLst>
              <p:ext uri="{D42A27DB-BD31-4B8C-83A1-F6EECF244321}">
                <p14:modId xmlns:p14="http://schemas.microsoft.com/office/powerpoint/2010/main" val="3720734542"/>
              </p:ext>
            </p:extLst>
          </p:nvPr>
        </p:nvGraphicFramePr>
        <p:xfrm>
          <a:off x="496528" y="1316291"/>
          <a:ext cx="11198943" cy="5055084"/>
        </p:xfrm>
        <a:graphic>
          <a:graphicData uri="http://schemas.openxmlformats.org/drawingml/2006/table">
            <a:tbl>
              <a:tblPr firstRow="1" bandRow="1">
                <a:tableStyleId>{BC89EF96-8CEA-46FF-86C4-4CE0E7609802}</a:tableStyleId>
              </a:tblPr>
              <a:tblGrid>
                <a:gridCol w="819320">
                  <a:extLst>
                    <a:ext uri="{9D8B030D-6E8A-4147-A177-3AD203B41FA5}">
                      <a16:colId xmlns:a16="http://schemas.microsoft.com/office/drawing/2014/main" val="1668140153"/>
                    </a:ext>
                  </a:extLst>
                </a:gridCol>
                <a:gridCol w="2494152">
                  <a:extLst>
                    <a:ext uri="{9D8B030D-6E8A-4147-A177-3AD203B41FA5}">
                      <a16:colId xmlns:a16="http://schemas.microsoft.com/office/drawing/2014/main" val="2326799363"/>
                    </a:ext>
                  </a:extLst>
                </a:gridCol>
                <a:gridCol w="845574">
                  <a:extLst>
                    <a:ext uri="{9D8B030D-6E8A-4147-A177-3AD203B41FA5}">
                      <a16:colId xmlns:a16="http://schemas.microsoft.com/office/drawing/2014/main" val="2348944190"/>
                    </a:ext>
                  </a:extLst>
                </a:gridCol>
                <a:gridCol w="7039897">
                  <a:extLst>
                    <a:ext uri="{9D8B030D-6E8A-4147-A177-3AD203B41FA5}">
                      <a16:colId xmlns:a16="http://schemas.microsoft.com/office/drawing/2014/main" val="1633245818"/>
                    </a:ext>
                  </a:extLst>
                </a:gridCol>
              </a:tblGrid>
              <a:tr h="405218">
                <a:tc>
                  <a:txBody>
                    <a:bodyPr/>
                    <a:lstStyle/>
                    <a:p>
                      <a:r>
                        <a:rPr lang="en-US" b="0" dirty="0">
                          <a:latin typeface="Times New Roman" panose="02020603050405020304" pitchFamily="18" charset="0"/>
                          <a:cs typeface="Times New Roman" panose="02020603050405020304" pitchFamily="18" charset="0"/>
                        </a:rPr>
                        <a:t>S. No.</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Title</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Year</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Summary</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9280099"/>
                  </a:ext>
                </a:extLst>
              </a:tr>
              <a:tr h="2319098">
                <a:tc>
                  <a:txBody>
                    <a:bodyPr/>
                    <a:lstStyle/>
                    <a:p>
                      <a:r>
                        <a:rPr lang="en-US" sz="1600" dirty="0">
                          <a:latin typeface="Times New Roman" panose="02020603050405020304" pitchFamily="18" charset="0"/>
                          <a:cs typeface="Times New Roman" panose="02020603050405020304" pitchFamily="18" charset="0"/>
                        </a:rPr>
                        <a:t>1.</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t>Evaluation of Machine Learning Algorithms for Classification of EEG Signals</a:t>
                      </a:r>
                      <a:br>
                        <a:rPr lang="en-IN" sz="1600" dirty="0"/>
                      </a:br>
                      <a:endParaRPr lang="en-IN" sz="1600" b="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2022</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This paper reviews the use of machine learning algorithms in EEG-based Brain–Computer Interface (BCI) systems. It discusses the process of acquiring EEG signals, removing noise, extracting features, and classifying brain signals using algorithms such as SVM, LDA, KNN, and Artificial Neural Networks. The study highlights that machine learning significantly improves the accuracy and reliability of EEG signal classification, enabling effective BCI applications in assistive technologies, rehabilitation, robotics, and human–computer interaction.</a:t>
                      </a:r>
                      <a:endParaRPr lang="en-US" sz="16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59894844"/>
                  </a:ext>
                </a:extLst>
              </a:tr>
              <a:tr h="2330768">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Electromyography based hand movement classification and feature extraction using machine learning algorithms</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dirty="0">
                          <a:latin typeface="Times New Roman" panose="02020603050405020304" pitchFamily="18" charset="0"/>
                          <a:cs typeface="Times New Roman" panose="02020603050405020304" pitchFamily="18" charset="0"/>
                        </a:rPr>
                        <a:t>This paper presents an </a:t>
                      </a:r>
                      <a:r>
                        <a:rPr lang="en-IN" sz="1600" b="1" dirty="0">
                          <a:latin typeface="Times New Roman" panose="02020603050405020304" pitchFamily="18" charset="0"/>
                          <a:cs typeface="Times New Roman" panose="02020603050405020304" pitchFamily="18" charset="0"/>
                        </a:rPr>
                        <a:t>EEG-based Brain–Computer Interface (BCI) system</a:t>
                      </a:r>
                      <a:r>
                        <a:rPr lang="en-IN" sz="1600" dirty="0">
                          <a:latin typeface="Times New Roman" panose="02020603050405020304" pitchFamily="18" charset="0"/>
                          <a:cs typeface="Times New Roman" panose="02020603050405020304" pitchFamily="18" charset="0"/>
                        </a:rPr>
                        <a:t> that uses machine learning techniques to classify brain signals generated during motor imagery tasks. The study focuses on processing EEG signals through preprocessing, feature extraction, and classification stages to accurately recognize user intentions. Different machine learning algorithms are evaluated to improve classification performance and reliability. The results demonstrate that machine learning can effectively interpret EEG signals, enabling real-time communication between the human brain and external devices.</a:t>
                      </a:r>
                    </a:p>
                  </a:txBody>
                  <a:tcPr/>
                </a:tc>
                <a:extLst>
                  <a:ext uri="{0D108BD9-81ED-4DB2-BD59-A6C34878D82A}">
                    <a16:rowId xmlns:a16="http://schemas.microsoft.com/office/drawing/2014/main" val="4184125853"/>
                  </a:ext>
                </a:extLst>
              </a:tr>
            </a:tbl>
          </a:graphicData>
        </a:graphic>
      </p:graphicFrame>
    </p:spTree>
    <p:extLst>
      <p:ext uri="{BB962C8B-B14F-4D97-AF65-F5344CB8AC3E}">
        <p14:creationId xmlns:p14="http://schemas.microsoft.com/office/powerpoint/2010/main" val="220585385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5">
            <a:extLst>
              <a:ext uri="{FF2B5EF4-FFF2-40B4-BE49-F238E27FC236}">
                <a16:creationId xmlns:a16="http://schemas.microsoft.com/office/drawing/2014/main" id="{560D762D-1CD3-6303-32DF-34E0E2807192}"/>
              </a:ext>
            </a:extLst>
          </p:cNvPr>
          <p:cNvGraphicFramePr>
            <a:graphicFrameLocks/>
          </p:cNvGraphicFramePr>
          <p:nvPr>
            <p:extLst>
              <p:ext uri="{D42A27DB-BD31-4B8C-83A1-F6EECF244321}">
                <p14:modId xmlns:p14="http://schemas.microsoft.com/office/powerpoint/2010/main" val="1541106197"/>
              </p:ext>
            </p:extLst>
          </p:nvPr>
        </p:nvGraphicFramePr>
        <p:xfrm>
          <a:off x="672156" y="644488"/>
          <a:ext cx="10847688" cy="6272035"/>
        </p:xfrm>
        <a:graphic>
          <a:graphicData uri="http://schemas.openxmlformats.org/drawingml/2006/table">
            <a:tbl>
              <a:tblPr bandRow="1">
                <a:tableStyleId>{BC89EF96-8CEA-46FF-86C4-4CE0E7609802}</a:tableStyleId>
              </a:tblPr>
              <a:tblGrid>
                <a:gridCol w="711371">
                  <a:extLst>
                    <a:ext uri="{9D8B030D-6E8A-4147-A177-3AD203B41FA5}">
                      <a16:colId xmlns:a16="http://schemas.microsoft.com/office/drawing/2014/main" val="2425078464"/>
                    </a:ext>
                  </a:extLst>
                </a:gridCol>
                <a:gridCol w="2231182">
                  <a:extLst>
                    <a:ext uri="{9D8B030D-6E8A-4147-A177-3AD203B41FA5}">
                      <a16:colId xmlns:a16="http://schemas.microsoft.com/office/drawing/2014/main" val="1383343233"/>
                    </a:ext>
                  </a:extLst>
                </a:gridCol>
                <a:gridCol w="629265">
                  <a:extLst>
                    <a:ext uri="{9D8B030D-6E8A-4147-A177-3AD203B41FA5}">
                      <a16:colId xmlns:a16="http://schemas.microsoft.com/office/drawing/2014/main" val="447068078"/>
                    </a:ext>
                  </a:extLst>
                </a:gridCol>
                <a:gridCol w="7275870">
                  <a:extLst>
                    <a:ext uri="{9D8B030D-6E8A-4147-A177-3AD203B41FA5}">
                      <a16:colId xmlns:a16="http://schemas.microsoft.com/office/drawing/2014/main" val="3202863377"/>
                    </a:ext>
                  </a:extLst>
                </a:gridCol>
              </a:tblGrid>
              <a:tr h="1730515">
                <a:tc>
                  <a:txBody>
                    <a:bodyPr/>
                    <a:lstStyle/>
                    <a:p>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Investigation of Epileptic Seizure Signatures Classification in EEG Using Supervised Machine Learning Algorithms </a:t>
                      </a:r>
                      <a:endParaRPr lang="en-IN" sz="16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2023</a:t>
                      </a:r>
                      <a:endParaRPr lang="en-IN"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This paper investigates the classification of </a:t>
                      </a:r>
                      <a:r>
                        <a:rPr lang="en-IN" sz="1600" b="1" dirty="0">
                          <a:latin typeface="Times New Roman" panose="02020603050405020304" pitchFamily="18" charset="0"/>
                          <a:cs typeface="Times New Roman" panose="02020603050405020304" pitchFamily="18" charset="0"/>
                        </a:rPr>
                        <a:t>epileptic seizure patterns in EEG signals using supervised machine learning algorithms</a:t>
                      </a:r>
                      <a:r>
                        <a:rPr lang="en-IN" sz="1600" dirty="0">
                          <a:latin typeface="Times New Roman" panose="02020603050405020304" pitchFamily="18" charset="0"/>
                          <a:cs typeface="Times New Roman" panose="02020603050405020304" pitchFamily="18" charset="0"/>
                        </a:rPr>
                        <a:t>. The study </a:t>
                      </a:r>
                      <a:r>
                        <a:rPr lang="en-IN" sz="1600" dirty="0" err="1">
                          <a:latin typeface="Times New Roman" panose="02020603050405020304" pitchFamily="18" charset="0"/>
                          <a:cs typeface="Times New Roman" panose="02020603050405020304" pitchFamily="18" charset="0"/>
                        </a:rPr>
                        <a:t>analyzes</a:t>
                      </a:r>
                      <a:r>
                        <a:rPr lang="en-IN" sz="1600" dirty="0">
                          <a:latin typeface="Times New Roman" panose="02020603050405020304" pitchFamily="18" charset="0"/>
                          <a:cs typeface="Times New Roman" panose="02020603050405020304" pitchFamily="18" charset="0"/>
                        </a:rPr>
                        <a:t> EEG recordings to identify seizure-related brain activity and compares the performance of different classification techniques. EEG signals are first </a:t>
                      </a:r>
                      <a:r>
                        <a:rPr lang="en-IN" sz="1600" dirty="0" err="1">
                          <a:latin typeface="Times New Roman" panose="02020603050405020304" pitchFamily="18" charset="0"/>
                          <a:cs typeface="Times New Roman" panose="02020603050405020304" pitchFamily="18" charset="0"/>
                        </a:rPr>
                        <a:t>preprocessed</a:t>
                      </a:r>
                      <a:r>
                        <a:rPr lang="en-IN" sz="1600" dirty="0">
                          <a:latin typeface="Times New Roman" panose="02020603050405020304" pitchFamily="18" charset="0"/>
                          <a:cs typeface="Times New Roman" panose="02020603050405020304" pitchFamily="18" charset="0"/>
                        </a:rPr>
                        <a:t> and transformed into meaningful features, which are then used to train machine learning models</a:t>
                      </a:r>
                    </a:p>
                  </a:txBody>
                  <a:tcPr/>
                </a:tc>
                <a:extLst>
                  <a:ext uri="{0D108BD9-81ED-4DB2-BD59-A6C34878D82A}">
                    <a16:rowId xmlns:a16="http://schemas.microsoft.com/office/drawing/2014/main" val="1630844536"/>
                  </a:ext>
                </a:extLst>
              </a:tr>
              <a:tr h="909183">
                <a:tc>
                  <a:txBody>
                    <a:bodyPr/>
                    <a:lstStyle/>
                    <a:p>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EPAT : a user-friendly MATLAB tool box for EEG/ERP data processing and analysis</a:t>
                      </a:r>
                    </a:p>
                  </a:txBody>
                  <a:tcPr/>
                </a:tc>
                <a:tc>
                  <a:txBody>
                    <a:bodyPr/>
                    <a:lstStyle/>
                    <a:p>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2024</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This paper introduces </a:t>
                      </a:r>
                      <a:r>
                        <a:rPr lang="en-IN" sz="1600" b="1" dirty="0">
                          <a:latin typeface="Times New Roman" panose="02020603050405020304" pitchFamily="18" charset="0"/>
                          <a:cs typeface="Times New Roman" panose="02020603050405020304" pitchFamily="18" charset="0"/>
                        </a:rPr>
                        <a:t>EPAT (EEG/ERP Analysis Toolbox)</a:t>
                      </a:r>
                      <a:r>
                        <a:rPr lang="en-IN" sz="1600" dirty="0">
                          <a:latin typeface="Times New Roman" panose="02020603050405020304" pitchFamily="18" charset="0"/>
                          <a:cs typeface="Times New Roman" panose="02020603050405020304" pitchFamily="18" charset="0"/>
                        </a:rPr>
                        <a:t>, an open-source and user-friendly MATLAB toolbox designed for EEG and Event-Related Potential (ERP) data processing and analysis. The toolbox simplifies EEG preprocessing, signal visualization, power spectrum analysis, independent component analysis (ICA), time-frequency analysis, and ERP waveform generation through a graphical user interface. Unlike traditional EEG analysis methods that often require programming expertise, EPAT enables researchers and clinicians to perform advanced EEG analysis more efficiently and reproducibly.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6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6682071"/>
                  </a:ext>
                </a:extLst>
              </a:tr>
              <a:tr h="1458461">
                <a:tc>
                  <a:txBody>
                    <a:bodyPr/>
                    <a:lstStyle/>
                    <a:p>
                      <a:r>
                        <a:rPr lang="en-US" sz="1600" dirty="0">
                          <a:latin typeface="Times New Roman" panose="02020603050405020304" pitchFamily="18" charset="0"/>
                          <a:cs typeface="Times New Roman" panose="02020603050405020304" pitchFamily="18" charset="0"/>
                        </a:rPr>
                        <a:t>5.</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400" cap="all" dirty="0">
                          <a:effectLst/>
                          <a:latin typeface="Times New Roman" panose="02020603050405020304" pitchFamily="18" charset="0"/>
                          <a:cs typeface="Times New Roman" panose="02020603050405020304" pitchFamily="18" charset="0"/>
                        </a:rPr>
                        <a:t>Review</a:t>
                      </a:r>
                    </a:p>
                    <a:p>
                      <a:r>
                        <a:rPr lang="en-IN" sz="1600" b="0" kern="1200" dirty="0">
                          <a:solidFill>
                            <a:schemeClr val="tx1"/>
                          </a:solidFill>
                          <a:effectLst/>
                          <a:latin typeface="Times New Roman" panose="02020603050405020304" pitchFamily="18" charset="0"/>
                          <a:ea typeface="+mn-ea"/>
                          <a:cs typeface="Times New Roman" panose="02020603050405020304" pitchFamily="18" charset="0"/>
                        </a:rPr>
                        <a:t>Technical system of electroencephalography-based brain–computer interface: Advances, applications, and challenges</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2025</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Focusing on smallholder farmers, this case study investigates the challenges and opportunities in adopting automatic seed planters. Through field surveys and participatory research methods, the paper examines the socio-economic factors influencing technology adoption decisions among smallholder farmers. It also discusses strategies to overcome barriers and promote the uptake of automatic seed planters in small-scale farming contexts.</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8608927"/>
                  </a:ext>
                </a:extLst>
              </a:tr>
            </a:tbl>
          </a:graphicData>
        </a:graphic>
      </p:graphicFrame>
    </p:spTree>
    <p:extLst>
      <p:ext uri="{BB962C8B-B14F-4D97-AF65-F5344CB8AC3E}">
        <p14:creationId xmlns:p14="http://schemas.microsoft.com/office/powerpoint/2010/main" val="86324411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7C79F-C80C-5069-B539-9954D7066135}"/>
              </a:ext>
            </a:extLst>
          </p:cNvPr>
          <p:cNvSpPr>
            <a:spLocks noGrp="1"/>
          </p:cNvSpPr>
          <p:nvPr>
            <p:ph type="title"/>
          </p:nvPr>
        </p:nvSpPr>
        <p:spPr>
          <a:xfrm>
            <a:off x="0" y="0"/>
            <a:ext cx="12192000" cy="1325563"/>
          </a:xfrm>
        </p:spPr>
        <p:txBody>
          <a:bodyPr/>
          <a:lstStyle/>
          <a:p>
            <a:pPr algn="ctr"/>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278472-652E-F7B0-5F08-D2C898E85D32}"/>
              </a:ext>
            </a:extLst>
          </p:cNvPr>
          <p:cNvSpPr>
            <a:spLocks noGrp="1"/>
          </p:cNvSpPr>
          <p:nvPr>
            <p:ph idx="1"/>
          </p:nvPr>
        </p:nvSpPr>
        <p:spPr>
          <a:xfrm>
            <a:off x="589935" y="1325563"/>
            <a:ext cx="10303352" cy="4927753"/>
          </a:xfrm>
        </p:spPr>
        <p:txBody>
          <a:bodyPr>
            <a:noAutofit/>
          </a:bodyPr>
          <a:lstStyle/>
          <a:p>
            <a:pPr algn="just"/>
            <a:r>
              <a:rPr lang="en-IN" sz="1200" b="1" dirty="0">
                <a:latin typeface="Times New Roman" panose="02020603050405020304" pitchFamily="18" charset="0"/>
                <a:cs typeface="Times New Roman" panose="02020603050405020304" pitchFamily="18" charset="0"/>
              </a:rPr>
              <a:t>EEG Data Acquisition</a:t>
            </a:r>
            <a:r>
              <a:rPr lang="en-IN" sz="1200" dirty="0">
                <a:latin typeface="Times New Roman" panose="02020603050405020304" pitchFamily="18" charset="0"/>
                <a:cs typeface="Times New Roman" panose="02020603050405020304" pitchFamily="18" charset="0"/>
              </a:rPr>
              <a:t> Collect EEG signals from the PhysioNet dataset. </a:t>
            </a:r>
          </a:p>
          <a:p>
            <a:pPr algn="just"/>
            <a:r>
              <a:rPr lang="en-IN" sz="1200" dirty="0">
                <a:latin typeface="Times New Roman" panose="02020603050405020304" pitchFamily="18" charset="0"/>
                <a:cs typeface="Times New Roman" panose="02020603050405020304" pitchFamily="18" charset="0"/>
              </a:rPr>
              <a:t>Obtain brain activity recordings for different mental tasks. </a:t>
            </a:r>
          </a:p>
          <a:p>
            <a:pPr algn="just"/>
            <a:r>
              <a:rPr lang="en-IN" sz="1200" b="1" dirty="0">
                <a:latin typeface="Times New Roman" panose="02020603050405020304" pitchFamily="18" charset="0"/>
                <a:cs typeface="Times New Roman" panose="02020603050405020304" pitchFamily="18" charset="0"/>
              </a:rPr>
              <a:t>Signal Preprocessing</a:t>
            </a:r>
            <a:r>
              <a:rPr lang="en-IN" sz="1200" dirty="0">
                <a:latin typeface="Times New Roman" panose="02020603050405020304" pitchFamily="18" charset="0"/>
                <a:cs typeface="Times New Roman" panose="02020603050405020304" pitchFamily="18" charset="0"/>
              </a:rPr>
              <a:t> Remove noise and artifacts from raw EEG signals. </a:t>
            </a:r>
          </a:p>
          <a:p>
            <a:pPr algn="just"/>
            <a:r>
              <a:rPr lang="en-IN" sz="1200" dirty="0">
                <a:latin typeface="Times New Roman" panose="02020603050405020304" pitchFamily="18" charset="0"/>
                <a:cs typeface="Times New Roman" panose="02020603050405020304" pitchFamily="18" charset="0"/>
              </a:rPr>
              <a:t>Apply filtering and normalization techniques. </a:t>
            </a:r>
          </a:p>
          <a:p>
            <a:pPr algn="just"/>
            <a:r>
              <a:rPr lang="en-IN" sz="1200" b="1" dirty="0">
                <a:latin typeface="Times New Roman" panose="02020603050405020304" pitchFamily="18" charset="0"/>
                <a:cs typeface="Times New Roman" panose="02020603050405020304" pitchFamily="18" charset="0"/>
              </a:rPr>
              <a:t>Feature Extraction</a:t>
            </a:r>
            <a:r>
              <a:rPr lang="en-IN" sz="1200" dirty="0">
                <a:latin typeface="Times New Roman" panose="02020603050405020304" pitchFamily="18" charset="0"/>
                <a:cs typeface="Times New Roman" panose="02020603050405020304" pitchFamily="18" charset="0"/>
              </a:rPr>
              <a:t> Extract relevant statistical and frequency-domain features from EEG signals. </a:t>
            </a:r>
          </a:p>
          <a:p>
            <a:pPr algn="just"/>
            <a:r>
              <a:rPr lang="en-IN" sz="1200" b="1" dirty="0">
                <a:latin typeface="Times New Roman" panose="02020603050405020304" pitchFamily="18" charset="0"/>
                <a:cs typeface="Times New Roman" panose="02020603050405020304" pitchFamily="18" charset="0"/>
              </a:rPr>
              <a:t>Dataset Preparation</a:t>
            </a:r>
            <a:r>
              <a:rPr lang="en-IN" sz="1200" dirty="0">
                <a:latin typeface="Times New Roman" panose="02020603050405020304" pitchFamily="18" charset="0"/>
                <a:cs typeface="Times New Roman" panose="02020603050405020304" pitchFamily="18" charset="0"/>
              </a:rPr>
              <a:t> Label EEG samples and divide the dataset into training and testing sets. </a:t>
            </a:r>
          </a:p>
          <a:p>
            <a:pPr algn="just"/>
            <a:r>
              <a:rPr lang="en-IN" sz="1200" b="1" dirty="0">
                <a:latin typeface="Times New Roman" panose="02020603050405020304" pitchFamily="18" charset="0"/>
                <a:cs typeface="Times New Roman" panose="02020603050405020304" pitchFamily="18" charset="0"/>
              </a:rPr>
              <a:t>ANN Model Training</a:t>
            </a:r>
            <a:r>
              <a:rPr lang="en-IN" sz="1200" dirty="0">
                <a:latin typeface="Times New Roman" panose="02020603050405020304" pitchFamily="18" charset="0"/>
                <a:cs typeface="Times New Roman" panose="02020603050405020304" pitchFamily="18" charset="0"/>
              </a:rPr>
              <a:t> Train an Artificial Neural Network (ANN) using the extracted features. </a:t>
            </a:r>
          </a:p>
          <a:p>
            <a:pPr algn="just"/>
            <a:r>
              <a:rPr lang="en-IN" sz="1200" dirty="0">
                <a:latin typeface="Times New Roman" panose="02020603050405020304" pitchFamily="18" charset="0"/>
                <a:cs typeface="Times New Roman" panose="02020603050405020304" pitchFamily="18" charset="0"/>
              </a:rPr>
              <a:t>Optimize the model for improved classification accuracy. </a:t>
            </a:r>
          </a:p>
          <a:p>
            <a:pPr algn="just"/>
            <a:r>
              <a:rPr lang="en-IN" sz="1200" b="1" dirty="0">
                <a:latin typeface="Times New Roman" panose="02020603050405020304" pitchFamily="18" charset="0"/>
                <a:cs typeface="Times New Roman" panose="02020603050405020304" pitchFamily="18" charset="0"/>
              </a:rPr>
              <a:t>EEG Signal Classification</a:t>
            </a:r>
            <a:r>
              <a:rPr lang="en-IN" sz="1200" dirty="0">
                <a:latin typeface="Times New Roman" panose="02020603050405020304" pitchFamily="18" charset="0"/>
                <a:cs typeface="Times New Roman" panose="02020603050405020304" pitchFamily="18" charset="0"/>
              </a:rPr>
              <a:t> Predict the user's intended brain activity based on EEG patterns. </a:t>
            </a:r>
          </a:p>
          <a:p>
            <a:pPr algn="just"/>
            <a:r>
              <a:rPr lang="en-IN" sz="1200" b="1" dirty="0">
                <a:latin typeface="Times New Roman" panose="02020603050405020304" pitchFamily="18" charset="0"/>
                <a:cs typeface="Times New Roman" panose="02020603050405020304" pitchFamily="18" charset="0"/>
              </a:rPr>
              <a:t>Command Generation</a:t>
            </a:r>
            <a:r>
              <a:rPr lang="en-IN" sz="1200" dirty="0">
                <a:latin typeface="Times New Roman" panose="02020603050405020304" pitchFamily="18" charset="0"/>
                <a:cs typeface="Times New Roman" panose="02020603050405020304" pitchFamily="18" charset="0"/>
              </a:rPr>
              <a:t> Convert classification results into control commands. </a:t>
            </a:r>
          </a:p>
          <a:p>
            <a:pPr algn="just"/>
            <a:r>
              <a:rPr lang="en-IN" sz="1200" dirty="0">
                <a:latin typeface="Times New Roman" panose="02020603050405020304" pitchFamily="18" charset="0"/>
                <a:cs typeface="Times New Roman" panose="02020603050405020304" pitchFamily="18" charset="0"/>
              </a:rPr>
              <a:t>Assign specific commands to different output actions. </a:t>
            </a:r>
          </a:p>
          <a:p>
            <a:pPr algn="just"/>
            <a:r>
              <a:rPr lang="en-IN" sz="1200" b="1" dirty="0">
                <a:latin typeface="Times New Roman" panose="02020603050405020304" pitchFamily="18" charset="0"/>
                <a:cs typeface="Times New Roman" panose="02020603050405020304" pitchFamily="18" charset="0"/>
              </a:rPr>
              <a:t>ESP32 Communication</a:t>
            </a:r>
            <a:r>
              <a:rPr lang="en-IN" sz="1200" dirty="0">
                <a:latin typeface="Times New Roman" panose="02020603050405020304" pitchFamily="18" charset="0"/>
                <a:cs typeface="Times New Roman" panose="02020603050405020304" pitchFamily="18" charset="0"/>
              </a:rPr>
              <a:t> Send the generated command to the ESP32 microcontroller through serial communication. </a:t>
            </a:r>
          </a:p>
          <a:p>
            <a:pPr algn="just"/>
            <a:r>
              <a:rPr lang="en-IN" sz="1200" b="1" dirty="0">
                <a:latin typeface="Times New Roman" panose="02020603050405020304" pitchFamily="18" charset="0"/>
                <a:cs typeface="Times New Roman" panose="02020603050405020304" pitchFamily="18" charset="0"/>
              </a:rPr>
              <a:t>LED Control</a:t>
            </a:r>
            <a:r>
              <a:rPr lang="en-IN" sz="1200" dirty="0">
                <a:latin typeface="Times New Roman" panose="02020603050405020304" pitchFamily="18" charset="0"/>
                <a:cs typeface="Times New Roman" panose="02020603050405020304" pitchFamily="18" charset="0"/>
              </a:rPr>
              <a:t> The ESP32 receives the command and controls the LED accordingly. </a:t>
            </a:r>
          </a:p>
          <a:p>
            <a:pPr algn="just"/>
            <a:r>
              <a:rPr lang="en-IN" sz="1200" dirty="0">
                <a:latin typeface="Times New Roman" panose="02020603050405020304" pitchFamily="18" charset="0"/>
                <a:cs typeface="Times New Roman" panose="02020603050405020304" pitchFamily="18" charset="0"/>
              </a:rPr>
              <a:t>Different classified outputs can trigger different LED states (ON/OFF or blinking patterns). </a:t>
            </a:r>
          </a:p>
          <a:p>
            <a:pPr marL="0" indent="0" algn="just">
              <a:buNone/>
            </a:pP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104805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01550F-D377-D9D3-2CFA-4FB6F2C640F0}"/>
              </a:ext>
            </a:extLst>
          </p:cNvPr>
          <p:cNvSpPr>
            <a:spLocks noGrp="1"/>
          </p:cNvSpPr>
          <p:nvPr>
            <p:ph idx="1"/>
          </p:nvPr>
        </p:nvSpPr>
        <p:spPr>
          <a:xfrm>
            <a:off x="494257" y="199992"/>
            <a:ext cx="10515600" cy="5883921"/>
          </a:xfrm>
        </p:spPr>
        <p:txBody>
          <a:bodyPr>
            <a:normAutofit/>
          </a:bodyPr>
          <a:lstStyle/>
          <a:p>
            <a:pPr marL="0" indent="0">
              <a:buNone/>
            </a:pPr>
            <a:r>
              <a:rPr lang="en-US" sz="2400" b="1" dirty="0"/>
              <a:t>BLOCK DIAGRAM</a:t>
            </a:r>
            <a:endParaRPr lang="en-IN" sz="2400" b="1" dirty="0"/>
          </a:p>
        </p:txBody>
      </p:sp>
      <p:sp>
        <p:nvSpPr>
          <p:cNvPr id="6" name="Oval 5">
            <a:extLst>
              <a:ext uri="{FF2B5EF4-FFF2-40B4-BE49-F238E27FC236}">
                <a16:creationId xmlns:a16="http://schemas.microsoft.com/office/drawing/2014/main" id="{3AFDCB74-1045-B9A6-80D2-D2E4AE32B629}"/>
              </a:ext>
            </a:extLst>
          </p:cNvPr>
          <p:cNvSpPr/>
          <p:nvPr/>
        </p:nvSpPr>
        <p:spPr>
          <a:xfrm>
            <a:off x="825486" y="1097579"/>
            <a:ext cx="1444977" cy="71120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EEG Dataset</a:t>
            </a:r>
            <a:endParaRPr lang="en-IN" dirty="0"/>
          </a:p>
        </p:txBody>
      </p:sp>
      <p:sp>
        <p:nvSpPr>
          <p:cNvPr id="8" name="Oval 7">
            <a:extLst>
              <a:ext uri="{FF2B5EF4-FFF2-40B4-BE49-F238E27FC236}">
                <a16:creationId xmlns:a16="http://schemas.microsoft.com/office/drawing/2014/main" id="{67F282CD-D726-6C8E-FA3D-041025987EC4}"/>
              </a:ext>
            </a:extLst>
          </p:cNvPr>
          <p:cNvSpPr/>
          <p:nvPr/>
        </p:nvSpPr>
        <p:spPr>
          <a:xfrm>
            <a:off x="2833625" y="1097578"/>
            <a:ext cx="2040355" cy="71120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 Preprocessing</a:t>
            </a:r>
            <a:endParaRPr lang="en-IN" dirty="0"/>
          </a:p>
        </p:txBody>
      </p:sp>
      <p:sp>
        <p:nvSpPr>
          <p:cNvPr id="9" name="Oval 8">
            <a:extLst>
              <a:ext uri="{FF2B5EF4-FFF2-40B4-BE49-F238E27FC236}">
                <a16:creationId xmlns:a16="http://schemas.microsoft.com/office/drawing/2014/main" id="{3E8A1AB9-9402-FCBF-C2F9-2152DB417107}"/>
              </a:ext>
            </a:extLst>
          </p:cNvPr>
          <p:cNvSpPr/>
          <p:nvPr/>
        </p:nvSpPr>
        <p:spPr>
          <a:xfrm>
            <a:off x="5171046" y="4109112"/>
            <a:ext cx="1727200" cy="58702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a:t>
            </a:r>
            <a:endParaRPr lang="en-IN" dirty="0"/>
          </a:p>
        </p:txBody>
      </p:sp>
      <p:sp>
        <p:nvSpPr>
          <p:cNvPr id="12" name="Oval 11">
            <a:extLst>
              <a:ext uri="{FF2B5EF4-FFF2-40B4-BE49-F238E27FC236}">
                <a16:creationId xmlns:a16="http://schemas.microsoft.com/office/drawing/2014/main" id="{745D71F6-A1F9-E45B-2FA2-13ED6DD75B83}"/>
              </a:ext>
            </a:extLst>
          </p:cNvPr>
          <p:cNvSpPr/>
          <p:nvPr/>
        </p:nvSpPr>
        <p:spPr>
          <a:xfrm>
            <a:off x="3310717" y="2540564"/>
            <a:ext cx="1639459" cy="711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Model Testing</a:t>
            </a:r>
            <a:endParaRPr lang="en-IN" dirty="0"/>
          </a:p>
        </p:txBody>
      </p:sp>
      <p:sp>
        <p:nvSpPr>
          <p:cNvPr id="13" name="Oval 12">
            <a:extLst>
              <a:ext uri="{FF2B5EF4-FFF2-40B4-BE49-F238E27FC236}">
                <a16:creationId xmlns:a16="http://schemas.microsoft.com/office/drawing/2014/main" id="{AE6D7BC1-F831-FB8D-CAE5-78EA7060980D}"/>
              </a:ext>
            </a:extLst>
          </p:cNvPr>
          <p:cNvSpPr/>
          <p:nvPr/>
        </p:nvSpPr>
        <p:spPr>
          <a:xfrm>
            <a:off x="5408631" y="1097579"/>
            <a:ext cx="2020713" cy="711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Filteration</a:t>
            </a:r>
            <a:endParaRPr lang="en-IN" dirty="0"/>
          </a:p>
        </p:txBody>
      </p:sp>
      <p:sp>
        <p:nvSpPr>
          <p:cNvPr id="14" name="Oval 13">
            <a:extLst>
              <a:ext uri="{FF2B5EF4-FFF2-40B4-BE49-F238E27FC236}">
                <a16:creationId xmlns:a16="http://schemas.microsoft.com/office/drawing/2014/main" id="{097555F3-311E-BDE9-8139-98F83FBA4A70}"/>
              </a:ext>
            </a:extLst>
          </p:cNvPr>
          <p:cNvSpPr/>
          <p:nvPr/>
        </p:nvSpPr>
        <p:spPr>
          <a:xfrm>
            <a:off x="3430256" y="5429225"/>
            <a:ext cx="1576554" cy="71119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LED ON</a:t>
            </a:r>
            <a:endParaRPr lang="en-IN" dirty="0"/>
          </a:p>
        </p:txBody>
      </p:sp>
      <p:sp>
        <p:nvSpPr>
          <p:cNvPr id="15" name="Oval 14">
            <a:extLst>
              <a:ext uri="{FF2B5EF4-FFF2-40B4-BE49-F238E27FC236}">
                <a16:creationId xmlns:a16="http://schemas.microsoft.com/office/drawing/2014/main" id="{7A145803-8989-A263-970E-821E424AE109}"/>
              </a:ext>
            </a:extLst>
          </p:cNvPr>
          <p:cNvSpPr/>
          <p:nvPr/>
        </p:nvSpPr>
        <p:spPr>
          <a:xfrm>
            <a:off x="5860111" y="2540564"/>
            <a:ext cx="1912659" cy="711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Model Training</a:t>
            </a:r>
            <a:endParaRPr lang="en-IN" dirty="0"/>
          </a:p>
        </p:txBody>
      </p:sp>
      <p:sp>
        <p:nvSpPr>
          <p:cNvPr id="16" name="Oval 15">
            <a:extLst>
              <a:ext uri="{FF2B5EF4-FFF2-40B4-BE49-F238E27FC236}">
                <a16:creationId xmlns:a16="http://schemas.microsoft.com/office/drawing/2014/main" id="{736331AE-8164-2FA0-C45E-55A960C3CD09}"/>
              </a:ext>
            </a:extLst>
          </p:cNvPr>
          <p:cNvSpPr/>
          <p:nvPr/>
        </p:nvSpPr>
        <p:spPr>
          <a:xfrm>
            <a:off x="8277261" y="2549103"/>
            <a:ext cx="2020712" cy="69412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ANN Neural Network</a:t>
            </a:r>
            <a:endParaRPr lang="en-IN" dirty="0"/>
          </a:p>
        </p:txBody>
      </p:sp>
      <p:sp>
        <p:nvSpPr>
          <p:cNvPr id="17" name="Oval 16">
            <a:extLst>
              <a:ext uri="{FF2B5EF4-FFF2-40B4-BE49-F238E27FC236}">
                <a16:creationId xmlns:a16="http://schemas.microsoft.com/office/drawing/2014/main" id="{983E313E-7F3D-D897-D6CA-55F170762D9C}"/>
              </a:ext>
            </a:extLst>
          </p:cNvPr>
          <p:cNvSpPr/>
          <p:nvPr/>
        </p:nvSpPr>
        <p:spPr>
          <a:xfrm>
            <a:off x="6861570" y="5439083"/>
            <a:ext cx="1677113" cy="69147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LED OFF</a:t>
            </a:r>
            <a:endParaRPr lang="en-IN" dirty="0"/>
          </a:p>
        </p:txBody>
      </p:sp>
      <p:sp>
        <p:nvSpPr>
          <p:cNvPr id="18" name="Oval 17">
            <a:extLst>
              <a:ext uri="{FF2B5EF4-FFF2-40B4-BE49-F238E27FC236}">
                <a16:creationId xmlns:a16="http://schemas.microsoft.com/office/drawing/2014/main" id="{82E3E1D6-58B5-0F8A-536D-96440A02C409}"/>
              </a:ext>
            </a:extLst>
          </p:cNvPr>
          <p:cNvSpPr/>
          <p:nvPr/>
        </p:nvSpPr>
        <p:spPr>
          <a:xfrm>
            <a:off x="7963995" y="1097877"/>
            <a:ext cx="2647245" cy="711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Feature Extraction</a:t>
            </a:r>
            <a:endParaRPr lang="en-IN" dirty="0"/>
          </a:p>
        </p:txBody>
      </p:sp>
      <p:cxnSp>
        <p:nvCxnSpPr>
          <p:cNvPr id="19" name="Straight Arrow Connector 18">
            <a:extLst>
              <a:ext uri="{FF2B5EF4-FFF2-40B4-BE49-F238E27FC236}">
                <a16:creationId xmlns:a16="http://schemas.microsoft.com/office/drawing/2014/main" id="{219ABC4B-CDFA-C458-715B-2F7AFA68420A}"/>
              </a:ext>
            </a:extLst>
          </p:cNvPr>
          <p:cNvCxnSpPr>
            <a:stCxn id="6" idx="6"/>
            <a:endCxn id="8" idx="2"/>
          </p:cNvCxnSpPr>
          <p:nvPr/>
        </p:nvCxnSpPr>
        <p:spPr>
          <a:xfrm flipV="1">
            <a:off x="2270463" y="1453179"/>
            <a:ext cx="563162"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AEDCA793-BDAB-1D9E-1E10-3C2A74D91B4A}"/>
              </a:ext>
            </a:extLst>
          </p:cNvPr>
          <p:cNvCxnSpPr>
            <a:stCxn id="8" idx="6"/>
            <a:endCxn id="13" idx="2"/>
          </p:cNvCxnSpPr>
          <p:nvPr/>
        </p:nvCxnSpPr>
        <p:spPr>
          <a:xfrm>
            <a:off x="4873980" y="1453179"/>
            <a:ext cx="5346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1D3AA597-6AA3-BED0-2BF4-EB80DE780D3D}"/>
              </a:ext>
            </a:extLst>
          </p:cNvPr>
          <p:cNvCxnSpPr>
            <a:cxnSpLocks/>
            <a:stCxn id="13" idx="6"/>
            <a:endCxn id="18" idx="2"/>
          </p:cNvCxnSpPr>
          <p:nvPr/>
        </p:nvCxnSpPr>
        <p:spPr>
          <a:xfrm>
            <a:off x="7429344" y="1453179"/>
            <a:ext cx="534651" cy="2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DCF20CE3-A29B-6640-56C5-F3A6CB7CC220}"/>
              </a:ext>
            </a:extLst>
          </p:cNvPr>
          <p:cNvCxnSpPr>
            <a:cxnSpLocks/>
            <a:stCxn id="18" idx="4"/>
            <a:endCxn id="16" idx="0"/>
          </p:cNvCxnSpPr>
          <p:nvPr/>
        </p:nvCxnSpPr>
        <p:spPr>
          <a:xfrm flipH="1">
            <a:off x="9287617" y="1809077"/>
            <a:ext cx="1" cy="74002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A30D8671-6D3C-A337-EAB3-1E251DD2B553}"/>
              </a:ext>
            </a:extLst>
          </p:cNvPr>
          <p:cNvCxnSpPr>
            <a:cxnSpLocks/>
            <a:stCxn id="16" idx="2"/>
            <a:endCxn id="15" idx="6"/>
          </p:cNvCxnSpPr>
          <p:nvPr/>
        </p:nvCxnSpPr>
        <p:spPr>
          <a:xfrm flipH="1" flipV="1">
            <a:off x="7772770" y="2896164"/>
            <a:ext cx="504491"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480F935A-9422-CDC2-8FB0-22F9F10E33F3}"/>
              </a:ext>
            </a:extLst>
          </p:cNvPr>
          <p:cNvCxnSpPr>
            <a:cxnSpLocks/>
            <a:endCxn id="12" idx="6"/>
          </p:cNvCxnSpPr>
          <p:nvPr/>
        </p:nvCxnSpPr>
        <p:spPr>
          <a:xfrm flipH="1">
            <a:off x="4950176" y="2886301"/>
            <a:ext cx="906874" cy="98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Connector: Elbow 74">
            <a:extLst>
              <a:ext uri="{FF2B5EF4-FFF2-40B4-BE49-F238E27FC236}">
                <a16:creationId xmlns:a16="http://schemas.microsoft.com/office/drawing/2014/main" id="{883E727E-2DDF-D964-8367-31CA1597AA0D}"/>
              </a:ext>
            </a:extLst>
          </p:cNvPr>
          <p:cNvCxnSpPr>
            <a:stCxn id="9" idx="4"/>
            <a:endCxn id="14" idx="0"/>
          </p:cNvCxnSpPr>
          <p:nvPr/>
        </p:nvCxnSpPr>
        <p:spPr>
          <a:xfrm rot="5400000">
            <a:off x="4760045" y="4154624"/>
            <a:ext cx="733090" cy="1816113"/>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77" name="Connector: Elbow 76">
            <a:extLst>
              <a:ext uri="{FF2B5EF4-FFF2-40B4-BE49-F238E27FC236}">
                <a16:creationId xmlns:a16="http://schemas.microsoft.com/office/drawing/2014/main" id="{8712D3C4-F122-58A5-E457-FE854158AA15}"/>
              </a:ext>
            </a:extLst>
          </p:cNvPr>
          <p:cNvCxnSpPr>
            <a:stCxn id="9" idx="4"/>
            <a:endCxn id="17" idx="0"/>
          </p:cNvCxnSpPr>
          <p:nvPr/>
        </p:nvCxnSpPr>
        <p:spPr>
          <a:xfrm rot="16200000" flipH="1">
            <a:off x="6495912" y="4234868"/>
            <a:ext cx="742948" cy="1665481"/>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83" name="Connector: Elbow 82">
            <a:extLst>
              <a:ext uri="{FF2B5EF4-FFF2-40B4-BE49-F238E27FC236}">
                <a16:creationId xmlns:a16="http://schemas.microsoft.com/office/drawing/2014/main" id="{BB01BCFA-049E-D299-DE63-4950AB562CD1}"/>
              </a:ext>
            </a:extLst>
          </p:cNvPr>
          <p:cNvCxnSpPr>
            <a:stCxn id="12" idx="4"/>
            <a:endCxn id="9" idx="0"/>
          </p:cNvCxnSpPr>
          <p:nvPr/>
        </p:nvCxnSpPr>
        <p:spPr>
          <a:xfrm rot="16200000" flipH="1">
            <a:off x="4653872" y="2728338"/>
            <a:ext cx="857348" cy="1904199"/>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2771734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9C66F-46D7-1156-43B5-3E1E23D486AE}"/>
              </a:ext>
            </a:extLst>
          </p:cNvPr>
          <p:cNvSpPr>
            <a:spLocks noGrp="1"/>
          </p:cNvSpPr>
          <p:nvPr>
            <p:ph type="title"/>
          </p:nvPr>
        </p:nvSpPr>
        <p:spPr>
          <a:xfrm>
            <a:off x="0" y="0"/>
            <a:ext cx="12192000" cy="717755"/>
          </a:xfrm>
        </p:spPr>
        <p:txBody>
          <a:bodyPr>
            <a:normAutofit/>
          </a:bodyPr>
          <a:lstStyle/>
          <a:p>
            <a:pPr algn="l"/>
            <a:r>
              <a:rPr lang="en-US" sz="2000" b="1" dirty="0">
                <a:latin typeface="Times New Roman" panose="02020603050405020304" pitchFamily="18" charset="0"/>
                <a:cs typeface="Times New Roman" panose="02020603050405020304" pitchFamily="18" charset="0"/>
              </a:rPr>
              <a:t>    WORKING PRINCIPLE</a:t>
            </a:r>
            <a:endParaRPr lang="en-IN" sz="2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01B08AE-58C6-ADBB-6B6E-A283CA22C417}"/>
              </a:ext>
            </a:extLst>
          </p:cNvPr>
          <p:cNvSpPr txBox="1">
            <a:spLocks noGrp="1"/>
          </p:cNvSpPr>
          <p:nvPr>
            <p:ph idx="1"/>
          </p:nvPr>
        </p:nvSpPr>
        <p:spPr>
          <a:xfrm>
            <a:off x="221226" y="717755"/>
            <a:ext cx="11749548" cy="6135782"/>
          </a:xfrm>
          <a:prstGeom prst="rect">
            <a:avLst/>
          </a:prstGeom>
          <a:noFill/>
        </p:spPr>
        <p:txBody>
          <a:bodyPr wrap="square" rtlCol="0">
            <a:spAutoFit/>
          </a:bodyPr>
          <a:lstStyle/>
          <a:p>
            <a:pPr marL="0" indent="0">
              <a:buNone/>
            </a:pPr>
            <a:r>
              <a:rPr lang="en-IN" sz="1100" b="1" dirty="0">
                <a:latin typeface="Times New Roman" panose="02020603050405020304" pitchFamily="18" charset="0"/>
                <a:cs typeface="Times New Roman" panose="02020603050405020304" pitchFamily="18" charset="0"/>
              </a:rPr>
              <a:t>1. EEG Signal Acquisition</a:t>
            </a:r>
          </a:p>
          <a:p>
            <a:r>
              <a:rPr lang="en-IN" sz="1100" dirty="0">
                <a:latin typeface="Times New Roman" panose="02020603050405020304" pitchFamily="18" charset="0"/>
                <a:cs typeface="Times New Roman" panose="02020603050405020304" pitchFamily="18" charset="0"/>
              </a:rPr>
              <a:t>EEG signals are obtained from the PhysioNet dataset, which contains recordings of brain activity collected through scalp electrodes. These signals serve as the input for the Brain–Computer Interface system.</a:t>
            </a:r>
          </a:p>
          <a:p>
            <a:pPr marL="0" indent="0">
              <a:buNone/>
            </a:pPr>
            <a:r>
              <a:rPr lang="en-IN" sz="1100" b="1" dirty="0">
                <a:latin typeface="Times New Roman" panose="02020603050405020304" pitchFamily="18" charset="0"/>
                <a:cs typeface="Times New Roman" panose="02020603050405020304" pitchFamily="18" charset="0"/>
              </a:rPr>
              <a:t>2. Signal Preprocessing</a:t>
            </a:r>
          </a:p>
          <a:p>
            <a:r>
              <a:rPr lang="en-IN" sz="1100" dirty="0">
                <a:latin typeface="Times New Roman" panose="02020603050405020304" pitchFamily="18" charset="0"/>
                <a:cs typeface="Times New Roman" panose="02020603050405020304" pitchFamily="18" charset="0"/>
              </a:rPr>
              <a:t>The acquired EEG signals are filtered to remove noise, artifacts, and unwanted interference. This step improves signal quality and enhances the reliability of further analysis.</a:t>
            </a:r>
          </a:p>
          <a:p>
            <a:pPr marL="0" indent="0">
              <a:buNone/>
            </a:pPr>
            <a:r>
              <a:rPr lang="en-IN" sz="1100" b="1" dirty="0">
                <a:latin typeface="Times New Roman" panose="02020603050405020304" pitchFamily="18" charset="0"/>
                <a:cs typeface="Times New Roman" panose="02020603050405020304" pitchFamily="18" charset="0"/>
              </a:rPr>
              <a:t>3. Feature Extraction</a:t>
            </a:r>
          </a:p>
          <a:p>
            <a:r>
              <a:rPr lang="en-IN" sz="1100" dirty="0">
                <a:latin typeface="Times New Roman" panose="02020603050405020304" pitchFamily="18" charset="0"/>
                <a:cs typeface="Times New Roman" panose="02020603050405020304" pitchFamily="18" charset="0"/>
              </a:rPr>
              <a:t>Important characteristics are extracted from the pre-processed EEG signals. These features represent meaningful patterns in brain activity and reduce the complexity of the data.</a:t>
            </a:r>
          </a:p>
          <a:p>
            <a:pPr marL="0" indent="0">
              <a:buNone/>
            </a:pPr>
            <a:r>
              <a:rPr lang="en-IN" sz="1100" b="1" dirty="0">
                <a:latin typeface="Times New Roman" panose="02020603050405020304" pitchFamily="18" charset="0"/>
                <a:cs typeface="Times New Roman" panose="02020603050405020304" pitchFamily="18" charset="0"/>
              </a:rPr>
              <a:t>4. ANN-Based Classification</a:t>
            </a:r>
          </a:p>
          <a:p>
            <a:r>
              <a:rPr lang="en-IN" sz="1100" dirty="0">
                <a:latin typeface="Times New Roman" panose="02020603050405020304" pitchFamily="18" charset="0"/>
                <a:cs typeface="Times New Roman" panose="02020603050405020304" pitchFamily="18" charset="0"/>
              </a:rPr>
              <a:t>The extracted features are provided to a trained Artificial Neural Network (ANN). The ANN learns EEG patterns and classifies the signals into predefined brain activity categories.</a:t>
            </a:r>
          </a:p>
          <a:p>
            <a:pPr marL="0" indent="0">
              <a:buNone/>
            </a:pPr>
            <a:r>
              <a:rPr lang="en-IN" sz="1100" b="1" dirty="0">
                <a:latin typeface="Times New Roman" panose="02020603050405020304" pitchFamily="18" charset="0"/>
                <a:cs typeface="Times New Roman" panose="02020603050405020304" pitchFamily="18" charset="0"/>
              </a:rPr>
              <a:t>5. Command Generation</a:t>
            </a:r>
          </a:p>
          <a:p>
            <a:r>
              <a:rPr lang="en-IN" sz="1100" dirty="0">
                <a:latin typeface="Times New Roman" panose="02020603050405020304" pitchFamily="18" charset="0"/>
                <a:cs typeface="Times New Roman" panose="02020603050405020304" pitchFamily="18" charset="0"/>
              </a:rPr>
              <a:t>Based on the classification result, the system generates a corresponding control command. Each brain activity class is mapped to a specific output action.</a:t>
            </a:r>
          </a:p>
          <a:p>
            <a:pPr marL="0" indent="0">
              <a:buNone/>
            </a:pPr>
            <a:r>
              <a:rPr lang="en-IN" sz="1100" b="1" dirty="0">
                <a:latin typeface="Times New Roman" panose="02020603050405020304" pitchFamily="18" charset="0"/>
                <a:cs typeface="Times New Roman" panose="02020603050405020304" pitchFamily="18" charset="0"/>
              </a:rPr>
              <a:t>6. ESP32 Communication</a:t>
            </a:r>
          </a:p>
          <a:p>
            <a:r>
              <a:rPr lang="en-IN" sz="1100" dirty="0">
                <a:latin typeface="Times New Roman" panose="02020603050405020304" pitchFamily="18" charset="0"/>
                <a:cs typeface="Times New Roman" panose="02020603050405020304" pitchFamily="18" charset="0"/>
              </a:rPr>
              <a:t>The generated command is transmitted to the ESP32 microcontroller through serial communication. The ESP32 acts as an interface between the classification model and the hardware output.</a:t>
            </a:r>
          </a:p>
          <a:p>
            <a:pPr marL="0" indent="0">
              <a:buNone/>
            </a:pPr>
            <a:r>
              <a:rPr lang="en-IN" sz="1100" b="1" dirty="0">
                <a:latin typeface="Times New Roman" panose="02020603050405020304" pitchFamily="18" charset="0"/>
                <a:cs typeface="Times New Roman" panose="02020603050405020304" pitchFamily="18" charset="0"/>
              </a:rPr>
              <a:t>7. LED Control</a:t>
            </a:r>
          </a:p>
          <a:p>
            <a:r>
              <a:rPr lang="en-IN" sz="1100" dirty="0">
                <a:latin typeface="Times New Roman" panose="02020603050405020304" pitchFamily="18" charset="0"/>
                <a:cs typeface="Times New Roman" panose="02020603050405020304" pitchFamily="18" charset="0"/>
              </a:rPr>
              <a:t>The ESP32 processes the received command and controls the LED accordingly. The LED state changes based on the classified brain activity.</a:t>
            </a:r>
          </a:p>
          <a:p>
            <a:pPr marL="0" indent="0" algn="just">
              <a:buNone/>
            </a:pPr>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675605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42369-AEC5-1B61-952C-BDB97F99A29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58EB1AD-EE81-3612-4BE2-ACD27422A29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4642020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B4A99-6EDE-1831-7789-1ECEB450A6C1}"/>
              </a:ext>
            </a:extLst>
          </p:cNvPr>
          <p:cNvSpPr>
            <a:spLocks noGrp="1"/>
          </p:cNvSpPr>
          <p:nvPr>
            <p:ph type="title"/>
          </p:nvPr>
        </p:nvSpPr>
        <p:spPr>
          <a:xfrm>
            <a:off x="0" y="18255"/>
            <a:ext cx="12192000" cy="1325563"/>
          </a:xfrm>
        </p:spPr>
        <p:txBody>
          <a:bodyPr/>
          <a:lstStyle/>
          <a:p>
            <a:pPr algn="ctr"/>
            <a:r>
              <a:rPr lang="en-US" b="1" dirty="0">
                <a:latin typeface="Times New Roman" panose="02020603050405020304" pitchFamily="18" charset="0"/>
                <a:cs typeface="Times New Roman" panose="02020603050405020304" pitchFamily="18" charset="0"/>
              </a:rPr>
              <a:t>RESULTS</a:t>
            </a:r>
            <a:endParaRPr lang="en-IN"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40AEA2C-CE7B-9E12-1375-33EA0DC89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3403" y="1250486"/>
            <a:ext cx="5387807" cy="2156647"/>
          </a:xfrm>
          <a:prstGeom prst="rect">
            <a:avLst/>
          </a:prstGeom>
        </p:spPr>
      </p:pic>
      <p:pic>
        <p:nvPicPr>
          <p:cNvPr id="10" name="Picture 9">
            <a:extLst>
              <a:ext uri="{FF2B5EF4-FFF2-40B4-BE49-F238E27FC236}">
                <a16:creationId xmlns:a16="http://schemas.microsoft.com/office/drawing/2014/main" id="{417CCB97-7CF1-52FF-0055-079F5F5795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223" y="3690586"/>
            <a:ext cx="5121084" cy="2248095"/>
          </a:xfrm>
          <a:prstGeom prst="rect">
            <a:avLst/>
          </a:prstGeom>
        </p:spPr>
      </p:pic>
      <p:pic>
        <p:nvPicPr>
          <p:cNvPr id="12" name="Picture 11">
            <a:extLst>
              <a:ext uri="{FF2B5EF4-FFF2-40B4-BE49-F238E27FC236}">
                <a16:creationId xmlns:a16="http://schemas.microsoft.com/office/drawing/2014/main" id="{7C190C0B-C564-FD20-BCFB-26DDFA2315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4694" y="3629621"/>
            <a:ext cx="5204911" cy="2309060"/>
          </a:xfrm>
          <a:prstGeom prst="rect">
            <a:avLst/>
          </a:prstGeom>
        </p:spPr>
      </p:pic>
    </p:spTree>
    <p:extLst>
      <p:ext uri="{BB962C8B-B14F-4D97-AF65-F5344CB8AC3E}">
        <p14:creationId xmlns:p14="http://schemas.microsoft.com/office/powerpoint/2010/main" val="206268273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6A5A5-5ADA-178D-C5A9-274DA05B5EA4}"/>
              </a:ext>
            </a:extLst>
          </p:cNvPr>
          <p:cNvSpPr>
            <a:spLocks noGrp="1"/>
          </p:cNvSpPr>
          <p:nvPr>
            <p:ph type="title"/>
          </p:nvPr>
        </p:nvSpPr>
        <p:spPr>
          <a:xfrm>
            <a:off x="-52873" y="0"/>
            <a:ext cx="12192000" cy="1155763"/>
          </a:xfrm>
        </p:spPr>
        <p:txBody>
          <a:bodyPr/>
          <a:lstStyle/>
          <a:p>
            <a:pPr algn="ctr"/>
            <a:r>
              <a:rPr lang="en-US" b="1" dirty="0">
                <a:latin typeface="Times New Roman" panose="02020603050405020304" pitchFamily="18" charset="0"/>
                <a:cs typeface="Times New Roman" panose="02020603050405020304" pitchFamily="18" charset="0"/>
              </a:rPr>
              <a:t>CONCLUSION</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DE6676F-6932-1ED9-338F-8FC91097A8D3}"/>
              </a:ext>
            </a:extLst>
          </p:cNvPr>
          <p:cNvSpPr>
            <a:spLocks noGrp="1"/>
          </p:cNvSpPr>
          <p:nvPr>
            <p:ph idx="1"/>
          </p:nvPr>
        </p:nvSpPr>
        <p:spPr>
          <a:xfrm>
            <a:off x="785327" y="2106273"/>
            <a:ext cx="10515600" cy="5620204"/>
          </a:xfrm>
        </p:spPr>
        <p:txBody>
          <a:bodyPr>
            <a:normAutofit/>
          </a:bodyPr>
          <a:lstStyle/>
          <a:p>
            <a:pPr marL="0" indent="0" algn="just">
              <a:lnSpc>
                <a:spcPct val="150000"/>
              </a:lnSpc>
              <a:buNone/>
            </a:pPr>
            <a:r>
              <a:rPr lang="en-IN" sz="1600" dirty="0">
                <a:latin typeface="Times New Roman" panose="02020603050405020304" pitchFamily="18" charset="0"/>
                <a:cs typeface="Times New Roman" panose="02020603050405020304" pitchFamily="18" charset="0"/>
              </a:rPr>
              <a:t>The proposed Brain Control Interface system uses EEG signals and an Artificial Neural Network (ANN) to classify brain activity and generate control commands. These commands are sent to an ESP32 microcontroller, which controls an LED based on the detected brain signals. The project demonstrates the potential of EEG-based Brain–Computer Interfaces for enabling direct communication between the human brain and external devices.</a:t>
            </a:r>
            <a:endParaRPr lang="en-IN" sz="16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538332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C555A-D626-FC7F-0C33-0FF11AC26345}"/>
              </a:ext>
            </a:extLst>
          </p:cNvPr>
          <p:cNvSpPr>
            <a:spLocks noGrp="1"/>
          </p:cNvSpPr>
          <p:nvPr>
            <p:ph type="title"/>
          </p:nvPr>
        </p:nvSpPr>
        <p:spPr>
          <a:xfrm>
            <a:off x="0" y="18255"/>
            <a:ext cx="12192000" cy="1325563"/>
          </a:xfrm>
        </p:spPr>
        <p:txBody>
          <a:bodyPr/>
          <a:lstStyle/>
          <a:p>
            <a:pPr algn="ctr"/>
            <a:r>
              <a:rPr lang="en-US" b="1" dirty="0">
                <a:latin typeface="Times New Roman" panose="02020603050405020304" pitchFamily="18" charset="0"/>
                <a:cs typeface="Times New Roman" panose="02020603050405020304" pitchFamily="18" charset="0"/>
              </a:rPr>
              <a:t>FUTURE SCOPE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21D121-C674-C959-E5FF-D33B6F7FBBE0}"/>
              </a:ext>
            </a:extLst>
          </p:cNvPr>
          <p:cNvSpPr>
            <a:spLocks noGrp="1"/>
          </p:cNvSpPr>
          <p:nvPr>
            <p:ph idx="1"/>
          </p:nvPr>
        </p:nvSpPr>
        <p:spPr>
          <a:xfrm>
            <a:off x="1800419" y="1343818"/>
            <a:ext cx="8591162" cy="5032375"/>
          </a:xfrm>
        </p:spPr>
        <p:txBody>
          <a:bodyPr>
            <a:normAutofit fontScale="85000" lnSpcReduction="20000"/>
          </a:bodyPr>
          <a:lstStyle/>
          <a:p>
            <a:pPr marL="0" indent="0">
              <a:buNone/>
            </a:pPr>
            <a:r>
              <a:rPr lang="en-IN" sz="1800" b="1" dirty="0">
                <a:latin typeface="Times New Roman" panose="02020603050405020304" pitchFamily="18" charset="0"/>
                <a:cs typeface="Times New Roman" panose="02020603050405020304" pitchFamily="18" charset="0"/>
              </a:rPr>
              <a:t>1. Real-Time EEG Signal Acquisition</a:t>
            </a:r>
          </a:p>
          <a:p>
            <a:r>
              <a:rPr lang="en-IN" sz="1800" dirty="0">
                <a:latin typeface="Times New Roman" panose="02020603050405020304" pitchFamily="18" charset="0"/>
                <a:cs typeface="Times New Roman" panose="02020603050405020304" pitchFamily="18" charset="0"/>
              </a:rPr>
              <a:t>The system can be upgraded to work with live EEG headsets instead of pre-recorded datasets. This will enable real-time brain signal processing and make the Brain–Computer Interface more practical for everyday applications.</a:t>
            </a:r>
          </a:p>
          <a:p>
            <a:pPr marL="0" indent="0">
              <a:buNone/>
            </a:pPr>
            <a:r>
              <a:rPr lang="en-IN" sz="1800" b="1" dirty="0">
                <a:latin typeface="Times New Roman" panose="02020603050405020304" pitchFamily="18" charset="0"/>
                <a:cs typeface="Times New Roman" panose="02020603050405020304" pitchFamily="18" charset="0"/>
              </a:rPr>
              <a:t>2. Integration with Robotic Arms and Assistive Devices</a:t>
            </a:r>
          </a:p>
          <a:p>
            <a:r>
              <a:rPr lang="en-IN" sz="1800" dirty="0">
                <a:latin typeface="Times New Roman" panose="02020603050405020304" pitchFamily="18" charset="0"/>
                <a:cs typeface="Times New Roman" panose="02020603050405020304" pitchFamily="18" charset="0"/>
              </a:rPr>
              <a:t>The classified EEG signals can be used to control robotic arms, wheelchairs, and other assistive devices. This can help individuals with physical disabilities perform tasks independently through brain-controlled commands.</a:t>
            </a:r>
          </a:p>
          <a:p>
            <a:pPr marL="0" indent="0">
              <a:buNone/>
            </a:pPr>
            <a:r>
              <a:rPr lang="en-IN" sz="1800" b="1" dirty="0">
                <a:latin typeface="Times New Roman" panose="02020603050405020304" pitchFamily="18" charset="0"/>
                <a:cs typeface="Times New Roman" panose="02020603050405020304" pitchFamily="18" charset="0"/>
              </a:rPr>
              <a:t>3. Implementation of Advanced Deep Learning Models</a:t>
            </a:r>
          </a:p>
          <a:p>
            <a:r>
              <a:rPr lang="en-IN" sz="1800" dirty="0">
                <a:latin typeface="Times New Roman" panose="02020603050405020304" pitchFamily="18" charset="0"/>
                <a:cs typeface="Times New Roman" panose="02020603050405020304" pitchFamily="18" charset="0"/>
              </a:rPr>
              <a:t>Deep learning techniques such as Convolutional Neural Networks (CNNs) and Long Short-Term Memory (LSTM) networks can be employed to improve classification accuracy, enhance system reliability, and support more complex brain-controlled operations.</a:t>
            </a:r>
          </a:p>
          <a:p>
            <a:pPr marL="0" indent="0" algn="just">
              <a:lnSpc>
                <a:spcPct val="150000"/>
              </a:lnSpc>
              <a:buNone/>
            </a:pPr>
            <a:br>
              <a:rPr lang="en-US" sz="1600" cap="none" dirty="0">
                <a:latin typeface="Times New Roman" panose="02020603050405020304" pitchFamily="18" charset="0"/>
                <a:cs typeface="Times New Roman" panose="02020603050405020304" pitchFamily="18" charset="0"/>
              </a:rPr>
            </a:br>
            <a:endParaRPr lang="en-IN" sz="16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538801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5B035-333F-8D5D-F3AB-C98EB14FEC83}"/>
              </a:ext>
            </a:extLst>
          </p:cNvPr>
          <p:cNvSpPr>
            <a:spLocks noGrp="1"/>
          </p:cNvSpPr>
          <p:nvPr>
            <p:ph type="title"/>
          </p:nvPr>
        </p:nvSpPr>
        <p:spPr>
          <a:xfrm>
            <a:off x="-203717" y="188382"/>
            <a:ext cx="12192000" cy="942565"/>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013A225-8E1F-8D9A-6B1F-D0BE826EF129}"/>
              </a:ext>
            </a:extLst>
          </p:cNvPr>
          <p:cNvSpPr txBox="1"/>
          <p:nvPr/>
        </p:nvSpPr>
        <p:spPr>
          <a:xfrm>
            <a:off x="595604" y="1387187"/>
            <a:ext cx="11000792" cy="4202689"/>
          </a:xfrm>
          <a:prstGeom prst="rect">
            <a:avLst/>
          </a:prstGeom>
          <a:noFill/>
        </p:spPr>
        <p:txBody>
          <a:bodyPr wrap="square" rtlCol="0">
            <a:spAutoFit/>
          </a:bodyPr>
          <a:lstStyle/>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Ramírez-Arias, Francisco Javier, et al. "Evaluation of machine learning algorithms for classification of EEG signals." </a:t>
            </a:r>
            <a:r>
              <a:rPr lang="en-IN" i="1" dirty="0">
                <a:latin typeface="Times New Roman" panose="02020603050405020304" pitchFamily="18" charset="0"/>
                <a:cs typeface="Times New Roman" panose="02020603050405020304" pitchFamily="18" charset="0"/>
              </a:rPr>
              <a:t>Technologies</a:t>
            </a:r>
            <a:r>
              <a:rPr lang="en-IN" dirty="0">
                <a:latin typeface="Times New Roman" panose="02020603050405020304" pitchFamily="18" charset="0"/>
                <a:cs typeface="Times New Roman" panose="02020603050405020304" pitchFamily="18" charset="0"/>
              </a:rPr>
              <a:t> 10.4 (2022): 79.</a:t>
            </a: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Ekinci, Ekin, Zeynep Garip, and </a:t>
            </a:r>
            <a:r>
              <a:rPr lang="en-IN" dirty="0" err="1">
                <a:latin typeface="Times New Roman" panose="02020603050405020304" pitchFamily="18" charset="0"/>
                <a:cs typeface="Times New Roman" panose="02020603050405020304" pitchFamily="18" charset="0"/>
              </a:rPr>
              <a:t>Kasım</a:t>
            </a:r>
            <a:r>
              <a:rPr lang="en-IN" dirty="0">
                <a:latin typeface="Times New Roman" panose="02020603050405020304" pitchFamily="18" charset="0"/>
                <a:cs typeface="Times New Roman" panose="02020603050405020304" pitchFamily="18" charset="0"/>
              </a:rPr>
              <a:t> Serbest. "Electromyography based hand movement classification and feature extraction using machine learning algorithms." </a:t>
            </a:r>
            <a:r>
              <a:rPr lang="en-IN" i="1" dirty="0" err="1">
                <a:latin typeface="Times New Roman" panose="02020603050405020304" pitchFamily="18" charset="0"/>
                <a:cs typeface="Times New Roman" panose="02020603050405020304" pitchFamily="18" charset="0"/>
              </a:rPr>
              <a:t>Politeknik</a:t>
            </a:r>
            <a:r>
              <a:rPr lang="en-IN" i="1" dirty="0">
                <a:latin typeface="Times New Roman" panose="02020603050405020304" pitchFamily="18" charset="0"/>
                <a:cs typeface="Times New Roman" panose="02020603050405020304" pitchFamily="18" charset="0"/>
              </a:rPr>
              <a:t> </a:t>
            </a:r>
            <a:r>
              <a:rPr lang="en-IN" i="1" dirty="0" err="1">
                <a:latin typeface="Times New Roman" panose="02020603050405020304" pitchFamily="18" charset="0"/>
                <a:cs typeface="Times New Roman" panose="02020603050405020304" pitchFamily="18" charset="0"/>
              </a:rPr>
              <a:t>Dergisi</a:t>
            </a:r>
            <a:r>
              <a:rPr lang="en-IN" dirty="0">
                <a:latin typeface="Times New Roman" panose="02020603050405020304" pitchFamily="18" charset="0"/>
                <a:cs typeface="Times New Roman" panose="02020603050405020304" pitchFamily="18" charset="0"/>
              </a:rPr>
              <a:t> 26.4 (2023): 1621-1633.</a:t>
            </a: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Al-</a:t>
            </a:r>
            <a:r>
              <a:rPr lang="en-IN" dirty="0" err="1">
                <a:latin typeface="Times New Roman" panose="02020603050405020304" pitchFamily="18" charset="0"/>
                <a:cs typeface="Times New Roman" panose="02020603050405020304" pitchFamily="18" charset="0"/>
              </a:rPr>
              <a:t>jumaili</a:t>
            </a:r>
            <a:r>
              <a:rPr lang="en-IN" dirty="0">
                <a:latin typeface="Times New Roman" panose="02020603050405020304" pitchFamily="18" charset="0"/>
                <a:cs typeface="Times New Roman" panose="02020603050405020304" pitchFamily="18" charset="0"/>
              </a:rPr>
              <a:t>, Saif, et al. "Investigation of epileptic seizure signatures classification in EEG using supervised machine learning algorithms." </a:t>
            </a:r>
            <a:r>
              <a:rPr lang="en-IN" i="1" dirty="0" err="1">
                <a:latin typeface="Times New Roman" panose="02020603050405020304" pitchFamily="18" charset="0"/>
                <a:cs typeface="Times New Roman" panose="02020603050405020304" pitchFamily="18" charset="0"/>
              </a:rPr>
              <a:t>Traitement</a:t>
            </a:r>
            <a:r>
              <a:rPr lang="en-IN" i="1" dirty="0">
                <a:latin typeface="Times New Roman" panose="02020603050405020304" pitchFamily="18" charset="0"/>
                <a:cs typeface="Times New Roman" panose="02020603050405020304" pitchFamily="18" charset="0"/>
              </a:rPr>
              <a:t> du Signal</a:t>
            </a:r>
            <a:r>
              <a:rPr lang="en-IN" dirty="0">
                <a:latin typeface="Times New Roman" panose="02020603050405020304" pitchFamily="18" charset="0"/>
                <a:cs typeface="Times New Roman" panose="02020603050405020304" pitchFamily="18" charset="0"/>
              </a:rPr>
              <a:t> 40.1 (2023): 43.</a:t>
            </a: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Shi, Jianwei, et al. "EPAT: a user-friendly MATLAB toolbox for EEG/ERP data processing and analysis." </a:t>
            </a:r>
            <a:r>
              <a:rPr lang="en-IN" i="1" dirty="0">
                <a:latin typeface="Times New Roman" panose="02020603050405020304" pitchFamily="18" charset="0"/>
                <a:cs typeface="Times New Roman" panose="02020603050405020304" pitchFamily="18" charset="0"/>
              </a:rPr>
              <a:t>Frontiers in Neuroinformatics</a:t>
            </a:r>
            <a:r>
              <a:rPr lang="en-IN" dirty="0">
                <a:latin typeface="Times New Roman" panose="02020603050405020304" pitchFamily="18" charset="0"/>
                <a:cs typeface="Times New Roman" panose="02020603050405020304" pitchFamily="18" charset="0"/>
              </a:rPr>
              <a:t> 18 (2024): 1384250.</a:t>
            </a: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Yu, Hui, et al. "Technical system of electroencephalography-based brain–computer interface: Advances, applications, and challenges." </a:t>
            </a:r>
            <a:r>
              <a:rPr lang="en-IN" i="1" dirty="0">
                <a:latin typeface="Times New Roman" panose="02020603050405020304" pitchFamily="18" charset="0"/>
                <a:cs typeface="Times New Roman" panose="02020603050405020304" pitchFamily="18" charset="0"/>
              </a:rPr>
              <a:t>Neural Regeneration Research</a:t>
            </a:r>
            <a:r>
              <a:rPr lang="en-IN" dirty="0">
                <a:latin typeface="Times New Roman" panose="02020603050405020304" pitchFamily="18" charset="0"/>
                <a:cs typeface="Times New Roman" panose="02020603050405020304" pitchFamily="18" charset="0"/>
              </a:rPr>
              <a:t> 21.9 (2026): 3885-3907.</a:t>
            </a:r>
          </a:p>
        </p:txBody>
      </p:sp>
    </p:spTree>
    <p:extLst>
      <p:ext uri="{BB962C8B-B14F-4D97-AF65-F5344CB8AC3E}">
        <p14:creationId xmlns:p14="http://schemas.microsoft.com/office/powerpoint/2010/main" val="156187130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1A5C69-A1F0-1306-865E-D4C73ED3791D}"/>
              </a:ext>
            </a:extLst>
          </p:cNvPr>
          <p:cNvSpPr>
            <a:spLocks noGrp="1"/>
          </p:cNvSpPr>
          <p:nvPr>
            <p:ph idx="1"/>
          </p:nvPr>
        </p:nvSpPr>
        <p:spPr>
          <a:xfrm>
            <a:off x="0" y="2593270"/>
            <a:ext cx="12192000" cy="4351338"/>
          </a:xfrm>
        </p:spPr>
        <p:txBody>
          <a:bodyPr>
            <a:normAutofit/>
          </a:bodyPr>
          <a:lstStyle/>
          <a:p>
            <a:pPr marL="0" indent="0" algn="ctr">
              <a:buNone/>
            </a:pPr>
            <a:r>
              <a:rPr lang="en-US" sz="9600" dirty="0"/>
              <a:t>THANK YOU</a:t>
            </a:r>
            <a:endParaRPr lang="en-IN" sz="9600" dirty="0"/>
          </a:p>
        </p:txBody>
      </p:sp>
    </p:spTree>
    <p:extLst>
      <p:ext uri="{BB962C8B-B14F-4D97-AF65-F5344CB8AC3E}">
        <p14:creationId xmlns:p14="http://schemas.microsoft.com/office/powerpoint/2010/main" val="2725756075"/>
      </p:ext>
    </p:extLst>
  </p:cSld>
  <p:clrMapOvr>
    <a:masterClrMapping/>
  </p:clrMapOvr>
  <p:transition spd="slow">
    <p:push dir="u"/>
  </p:transition>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1356</TotalTime>
  <Words>1647</Words>
  <Application>Microsoft Office PowerPoint</Application>
  <PresentationFormat>Widescreen</PresentationFormat>
  <Paragraphs>117</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Times New Roman</vt:lpstr>
      <vt:lpstr>Tw Cen MT</vt:lpstr>
      <vt:lpstr>Droplet</vt:lpstr>
      <vt:lpstr>PowerPoint Presentation</vt:lpstr>
      <vt:lpstr>CONTENTS</vt:lpstr>
      <vt:lpstr>OBJECTIVE</vt:lpstr>
      <vt:lpstr>INTRODUCTION</vt:lpstr>
      <vt:lpstr>PowerPoint Presentation</vt:lpstr>
      <vt:lpstr>LITERATURE REVIEW</vt:lpstr>
      <vt:lpstr>PowerPoint Presentation</vt:lpstr>
      <vt:lpstr>METHODOLOGY</vt:lpstr>
      <vt:lpstr>PowerPoint Presentation</vt:lpstr>
      <vt:lpstr>    WORKING PRINCIPLE</vt:lpstr>
      <vt:lpstr>PowerPoint Presentation</vt:lpstr>
      <vt:lpstr>RESULTS</vt:lpstr>
      <vt:lpstr>CONCLUSION </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KIRTI PATIDAR</dc:creator>
  <cp:lastModifiedBy>siddharth pal</cp:lastModifiedBy>
  <cp:revision>7</cp:revision>
  <dcterms:created xsi:type="dcterms:W3CDTF">2024-05-15T09:16:47Z</dcterms:created>
  <dcterms:modified xsi:type="dcterms:W3CDTF">2026-06-19T09:08:40Z</dcterms:modified>
</cp:coreProperties>
</file>